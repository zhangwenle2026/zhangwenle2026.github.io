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0816" y="192024"/>
            <a:ext cx="886968" cy="4663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1097280"/>
            <a:ext cx="5486400" cy="347472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900" b="0">
                <a:solidFill>
                  <a:srgbClr val="888888"/>
                </a:solidFill>
                <a:latin typeface="Verdana"/>
              </a:rPr>
              <a:t>KEETA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5943600" cy="146304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3400" b="1">
                <a:solidFill>
                  <a:srgbClr val="FFFFFF"/>
                </a:solidFill>
                <a:latin typeface="Verdana"/>
              </a:rPr>
              <a:t>Merchant Operations</a:t>
            </a:r>
          </a:p>
          <a:p>
            <a:r>
              <a:rPr sz="3400" b="1">
                <a:solidFill>
                  <a:srgbClr val="FFFFFF"/>
                </a:solidFill>
                <a:latin typeface="Verdana"/>
              </a:rPr>
              <a:t>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200400"/>
            <a:ext cx="5943600" cy="4572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600" b="0">
                <a:solidFill>
                  <a:srgbClr val="FFE41F"/>
                </a:solidFill>
                <a:latin typeface="Verdana"/>
              </a:rPr>
              <a:t>Survive Kit — Defense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931920"/>
            <a:ext cx="4572000" cy="36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4114800"/>
            <a:ext cx="16459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AAAAAA"/>
                </a:solidFill>
                <a:latin typeface="Verdana"/>
              </a:rPr>
              <a:t>Store ID: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4114800"/>
            <a:ext cx="34747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FFFFFF"/>
                </a:solidFill>
                <a:latin typeface="Verdana"/>
              </a:rPr>
              <a:t>[Enter Store ID]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590288"/>
            <a:ext cx="16459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AAAAAA"/>
                </a:solidFill>
                <a:latin typeface="Verdana"/>
              </a:rPr>
              <a:t>Merchant: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4590288"/>
            <a:ext cx="34747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FFFFFF"/>
                </a:solidFill>
                <a:latin typeface="Verdana"/>
              </a:rPr>
              <a:t>[Merchant Name]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065776"/>
            <a:ext cx="16459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AAAAAA"/>
                </a:solidFill>
                <a:latin typeface="Verdana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065776"/>
            <a:ext cx="34747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FFFFFF"/>
                </a:solidFill>
                <a:latin typeface="Verdana"/>
              </a:rPr>
              <a:t>[Month/2026]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541264"/>
            <a:ext cx="16459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AAAAAA"/>
                </a:solidFill>
                <a:latin typeface="Verdana"/>
              </a:rPr>
              <a:t>BDM: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541264"/>
            <a:ext cx="3474720" cy="36576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r>
              <a:rPr sz="1000" b="0">
                <a:solidFill>
                  <a:srgbClr val="FFFFFF"/>
                </a:solidFill>
                <a:latin typeface="Verdana"/>
              </a:rPr>
              <a:t>[BDM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1508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R$ [---]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9933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[MoM +X%]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868680"/>
            <a:ext cx="3566160" cy="1508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19933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[MoM +X%]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868680"/>
            <a:ext cx="3566160" cy="1508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AVG ORDER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R$ 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19933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[MoM +X%]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606040"/>
            <a:ext cx="5394960" cy="3566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606040"/>
            <a:ext cx="53949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9748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Business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20040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[Growth highlight 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06908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[Growth highlight 2]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3776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[Growth highlight 3]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2606040"/>
            <a:ext cx="5394960" cy="3566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97880" y="2606040"/>
            <a:ext cx="53949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0" y="269748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Key Risks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320040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[Key risk 1]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06908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[Key risk 2]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4937760"/>
            <a:ext cx="51206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[Key risk 3]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Business Growth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4320" y="914400"/>
            <a:ext cx="11612880" cy="4800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914400"/>
            <a:ext cx="1161288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301752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Verdana"/>
              </a:rPr>
              <a:t>[ Insert trend chart — GMV / Orders / AOV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5806440"/>
            <a:ext cx="201168" cy="20116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57607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GMV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5806440"/>
            <a:ext cx="201168" cy="201168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0448" y="57607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Orders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5806440"/>
            <a:ext cx="201168" cy="201168"/>
          </a:xfrm>
          <a:prstGeom prst="rect">
            <a:avLst/>
          </a:prstGeom>
          <a:solidFill>
            <a:srgbClr val="44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576072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GMV Formula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" y="8046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Verdana"/>
              </a:rPr>
              <a:t>Understanding what drives your revenue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926080" cy="2468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71600"/>
            <a:ext cx="292608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463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Visitors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6596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CC9A"/>
                </a:solidFill>
                <a:latin typeface="Verdana"/>
              </a:rPr>
              <a:t>[Insert value]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718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Verdana"/>
              </a:rPr>
              <a:t>[↑ X% vs prior]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1371600"/>
            <a:ext cx="2926080" cy="2468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371600"/>
            <a:ext cx="292608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63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Conversion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96596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CC9A"/>
                </a:solidFill>
                <a:latin typeface="Verdana"/>
              </a:rPr>
              <a:t>[Insert value]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9718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Verdana"/>
              </a:rPr>
              <a:t>[↑ X% vs prior]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1371600"/>
            <a:ext cx="2926080" cy="2468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371600"/>
            <a:ext cx="292608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146304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AOV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1965960"/>
            <a:ext cx="2651760" cy="868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1CC9A"/>
                </a:solidFill>
                <a:latin typeface="Verdana"/>
              </a:rPr>
              <a:t>[Insert value]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97180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Verdana"/>
              </a:rPr>
              <a:t>[↑ X% vs prior]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2331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1CC9A"/>
                </a:solidFill>
                <a:latin typeface="Verdana"/>
              </a:rPr>
              <a:t>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2331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1CC9A"/>
                </a:solidFill>
                <a:latin typeface="Verdana"/>
              </a:rPr>
              <a:t>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94760" y="4069080"/>
            <a:ext cx="4572000" cy="82296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4760" y="4069080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Verdana"/>
              </a:rPr>
              <a:t>= GMV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172200"/>
            <a:ext cx="116128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Verdana"/>
              </a:rPr>
              <a:t>GMV = platform revenue before subsidies · Source: Keeta Merchant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Promotion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1325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TOTAL PROMO EXPENSE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R$ [---]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868680"/>
            <a:ext cx="3566160" cy="1325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PROMO 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[X]x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868680"/>
            <a:ext cx="3566160" cy="13258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PROMO ORDERS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23160"/>
            <a:ext cx="3566160" cy="2651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423160"/>
            <a:ext cx="35661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51460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Promo Item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0175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Order Count: [---]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118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Total Cost: R$ [---]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062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Efficiency: [High/Med/Low]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69080" y="2423160"/>
            <a:ext cx="3566160" cy="2651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69080" y="2423160"/>
            <a:ext cx="35661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6240" y="251460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Discount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30175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Order Count: [---]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36118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Total Cost: R$ [---]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2062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Efficiency: [High/Med/Low]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18120" y="2423160"/>
            <a:ext cx="3566160" cy="26517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18120" y="2423160"/>
            <a:ext cx="35661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0" y="2514600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Coupon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301752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Order Count: [---]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36118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Total Cost: R$ [---]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0" y="420624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Verdana"/>
              </a:rPr>
              <a:t>Efficiency: [High/Med/Low]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5285232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Verdana"/>
              </a:rPr>
              <a:t>💡 Promo Item typically delivers the highest order volume per R$ invested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Service Quality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91440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8755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Daily Downtime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5331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2219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prior]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91440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91440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98755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Cancellation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135331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22219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prior]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91440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18120" y="91440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98755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Avg Prep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7848" y="135331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27848" y="222199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prior]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78892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78892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28620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Order Accuracy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322783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409651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prior]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278892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69080" y="278892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78808" y="28620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Customer Rating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78808" y="322783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78808" y="409651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prior]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18120" y="2788920"/>
            <a:ext cx="3566160" cy="16916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18120" y="278892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7848" y="286207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Mark-Ready 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7848" y="322783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27848" y="409651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[↑ vs prior]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144768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E41F"/>
                </a:solidFill>
                <a:latin typeface="Verdana"/>
              </a:rPr>
              <a:t>⚠️  Highlight critical areas that need immediate attention before presenting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Customer Analysis — Last 30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TOTAL 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868680"/>
            <a:ext cx="356616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7880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NEW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7880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868680"/>
            <a:ext cx="356616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941832"/>
            <a:ext cx="3346704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555"/>
                </a:solidFill>
                <a:latin typeface="Verdana"/>
              </a:rPr>
              <a:t>RETURNING 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1307592"/>
            <a:ext cx="3346704" cy="685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1CC9A"/>
                </a:solidFill>
                <a:latin typeface="Verdana"/>
              </a:rPr>
              <a:t>[---]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23160"/>
            <a:ext cx="11521440" cy="33375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423160"/>
            <a:ext cx="1152144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384048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Verdana"/>
              </a:rPr>
              <a:t>[ Insert customer segmentation chart 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897880"/>
            <a:ext cx="11521440" cy="658368"/>
          </a:xfrm>
          <a:prstGeom prst="rect">
            <a:avLst/>
          </a:prstGeom>
          <a:solidFill>
            <a:srgbClr val="E8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897880"/>
            <a:ext cx="73152" cy="65836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596188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Verdana"/>
              </a:rPr>
              <a:t>Key Insight: [Describe new vs returning mix and what it means for loyalty strategy]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99Food Threat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45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Exclusive Offer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3]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868680"/>
            <a:ext cx="356616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69080" y="868680"/>
            <a:ext cx="356616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40" y="960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Impact on Merchant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4630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3317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2004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3]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868680"/>
            <a:ext cx="356616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18120" y="868680"/>
            <a:ext cx="356616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96012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BD Observations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146304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233172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2]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200400"/>
            <a:ext cx="329184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[Detail 3]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166360"/>
            <a:ext cx="11521440" cy="502920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166360"/>
            <a:ext cx="73152" cy="5029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523036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Verdana"/>
              </a:rPr>
              <a:t>⚠️  Threat level: [ HIGH / MEDIUM / LOW ]  —  Source: [BD observation, date]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The 99Food Offer — What They're Proposing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914400"/>
            <a:ext cx="5029200" cy="457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5029200" cy="457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8755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99 EXCLUSIVITY OFFER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CASH (one-time): R$ [Amount]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GUARANTEED GMV/YEAR: R$ [---]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CONTRACT DURATION: [X] years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• PENALTY FOR BREACH: [Describe]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914400"/>
            <a:ext cx="6217920" cy="4572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914400"/>
            <a:ext cx="6217920" cy="457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987552"/>
            <a:ext cx="5943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What You Give Up: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1508760"/>
            <a:ext cx="5943600" cy="8412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1536192"/>
            <a:ext cx="566928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  <a:latin typeface="Verdana"/>
              </a:rPr>
              <a:t>✗  [Keeta revenue — primary platform]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2514600"/>
            <a:ext cx="5943600" cy="8412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542032"/>
            <a:ext cx="566928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  <a:latin typeface="Verdana"/>
              </a:rPr>
              <a:t>✗  [Flexibility to negotiate]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3520440"/>
            <a:ext cx="5943600" cy="841248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3547872"/>
            <a:ext cx="5669280" cy="74980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444"/>
                </a:solidFill>
                <a:latin typeface="Verdana"/>
              </a:rPr>
              <a:t>✗  [iFood traffic]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669280"/>
            <a:ext cx="11521440" cy="475488"/>
          </a:xfrm>
          <a:prstGeom prst="rect">
            <a:avLst/>
          </a:prstGeom>
          <a:solidFill>
            <a:srgbClr val="FF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5669280"/>
            <a:ext cx="73152" cy="475488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733288"/>
            <a:ext cx="1115568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Verdana"/>
              </a:rPr>
              <a:t>⚠️  The upfront payment represents only [X] months of your current Keeta 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Revenue Impact — The Math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914400"/>
            <a:ext cx="5029200" cy="42976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5029200" cy="54864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8755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444"/>
                </a:solidFill>
                <a:latin typeface="Verdana"/>
              </a:rPr>
              <a:t>ACCEPT 99 EXCLUSIVITY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Revenue (2 years): R$ [X]M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21992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Upfront bonus: R$ [X]K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35224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TOTAL: R$ [X]M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5603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55555"/>
                </a:solidFill>
                <a:latin typeface="Verdana"/>
              </a:rPr>
              <a:t>VS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914400"/>
            <a:ext cx="5303520" cy="4297680"/>
          </a:xfrm>
          <a:prstGeom prst="rect">
            <a:avLst/>
          </a:prstGeom>
          <a:solidFill>
            <a:srgbClr val="E8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914400"/>
            <a:ext cx="530352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987552"/>
            <a:ext cx="50292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1CC9A"/>
                </a:solidFill>
                <a:latin typeface="Verdana"/>
              </a:rPr>
              <a:t>STAY MULTI-PLATFORM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508760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Keeta (2 years): R$ [X]M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221992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99Food (2 years): R$ [X]M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935224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Verdana"/>
              </a:rPr>
              <a:t>iFood (2 years): R$ [X]M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3648456"/>
            <a:ext cx="50292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TOTAL: R$ [X]M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5394960"/>
            <a:ext cx="11521440" cy="5943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440680"/>
            <a:ext cx="111556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MINIMUM LOSS: R$ [X]M over 2 years by accepting exclusivity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6108192"/>
            <a:ext cx="11521440" cy="34747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Verdana"/>
              </a:rPr>
              <a:t>Conservative scenario — does not account for Keeta's historical monthly growth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2-Year Contract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96112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96112"/>
            <a:ext cx="11521440" cy="36576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060704"/>
            <a:ext cx="502920" cy="50292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060704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950976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Platform Abandonment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335024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99Food previously exited Brazil (2023). If it happens again, you lose both Keeta AND 99Food — locked.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874520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1874520"/>
            <a:ext cx="11521440" cy="36576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039112"/>
            <a:ext cx="502920" cy="5029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039112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1929384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GMV Guarantee Not Honored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313432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[Describe cases where guarantees were not fulfilled and legal recourse options]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852928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852928"/>
            <a:ext cx="11521440" cy="36576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017520"/>
            <a:ext cx="502920" cy="502920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017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2907792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CADE Antitrust Investigation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291840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Exclusive contracts are under regulatory scrutiny in Brazil — legal risk for the merchant.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831336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831336"/>
            <a:ext cx="1152144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480" y="3995928"/>
            <a:ext cx="502920" cy="5029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99592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388620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Negotiation Leverage Lost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270248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Once exclusive, you lose the ability to negotiate better terms with any platform.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809744"/>
            <a:ext cx="11521440" cy="8686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809744"/>
            <a:ext cx="11521440" cy="36576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4974336"/>
            <a:ext cx="502920" cy="50292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497433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4864608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Verdana"/>
              </a:rPr>
              <a:t>Growth Cap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248656"/>
            <a:ext cx="105156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Verdana"/>
              </a:rPr>
              <a:t>Your GMV is locked to 99Food's growth, not your own trajectory — missing Keeta's acceleration.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Merchant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🍽️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[Enter value]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11430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Avg Order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[Enter value]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92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1430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Operating Hours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[Enter value]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178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11430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Region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[Enter value]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464040" y="1005840"/>
            <a:ext cx="210312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64040" y="1005840"/>
            <a:ext cx="2103120" cy="457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0" y="11430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333333"/>
                </a:solidFill>
                <a:latin typeface="Verdana"/>
              </a:rPr>
              <a:t>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173736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55555"/>
                </a:solidFill>
                <a:latin typeface="Verdana"/>
              </a:rPr>
              <a:t>Keeta Ranking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24028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1CC9A"/>
                </a:solidFill>
                <a:latin typeface="Verdana"/>
              </a:rPr>
              <a:t>[Enter value]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Competitive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914400"/>
            <a:ext cx="3840480" cy="7132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91440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333333"/>
                </a:solidFill>
                <a:latin typeface="Verdana"/>
              </a:rPr>
              <a:t>Criterion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914400"/>
            <a:ext cx="3840480" cy="713232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0248" y="91440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Keeta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914400"/>
            <a:ext cx="3840480" cy="713232"/>
          </a:xfrm>
          <a:prstGeom prst="rect">
            <a:avLst/>
          </a:prstGeom>
          <a:solidFill>
            <a:srgbClr val="F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8" y="91440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99Food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627632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" y="1627632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Commission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1627632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1627632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[X]%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627632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0728" y="1627632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[X]%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340864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" y="2340864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Promotion Support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2340864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0248" y="2340864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[Describe]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2340864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0728" y="2340864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[Describe]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054096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3054096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Visibility / Traffic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3054096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0248" y="3054096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[Describe]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1000" y="3054096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0728" y="3054096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[Describe]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67328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3767328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Merchant Service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60520" y="3767328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0248" y="3767328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[Describe]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3767328"/>
            <a:ext cx="3840480" cy="713232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10728" y="3767328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[Describe]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480560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9768" y="448056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Exclusive Incentive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60520" y="4480560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70248" y="448056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[Value]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01000" y="4480560"/>
            <a:ext cx="3840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10728" y="4480560"/>
            <a:ext cx="3621024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[Value]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330952"/>
            <a:ext cx="11521440" cy="502920"/>
          </a:xfrm>
          <a:prstGeom prst="rect">
            <a:avLst/>
          </a:prstGeom>
          <a:solidFill>
            <a:srgbClr val="E8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5330952"/>
            <a:ext cx="73152" cy="50292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404104"/>
            <a:ext cx="10972800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1CC9A"/>
                </a:solidFill>
                <a:latin typeface="Verdana"/>
              </a:rPr>
              <a:t>✅  Keeta Advantage: [Highlight the key competitive differentiator for this merchant]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Our Proposal — Defense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868680"/>
            <a:ext cx="3566160" cy="4709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868680"/>
            <a:ext cx="3566160" cy="54864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601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🎯  Promotion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1.  [Action detail 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3639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2.  [Action detail 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41064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3.  [Action detail 3]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745736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4.  [Action detail 4]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868680"/>
            <a:ext cx="3566160" cy="4709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069080" y="868680"/>
            <a:ext cx="3566160" cy="54864"/>
          </a:xfrm>
          <a:prstGeom prst="rect">
            <a:avLst/>
          </a:prstGeom>
          <a:solidFill>
            <a:srgbClr val="FFE4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9601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⭐  Exclusive Incentive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233172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1.  [Action detail 1]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13639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2.  [Action detail 2]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941064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3.  [Action detail 3]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745736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4.  [Action detail 4]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868680"/>
            <a:ext cx="3566160" cy="470916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18120" y="868680"/>
            <a:ext cx="3566160" cy="54864"/>
          </a:xfrm>
          <a:prstGeom prst="rect">
            <a:avLst/>
          </a:prstGeom>
          <a:solidFill>
            <a:srgbClr val="44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0" y="960120"/>
            <a:ext cx="32918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Verdana"/>
              </a:rPr>
              <a:t>📈  Growth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233172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1.  [Action detail 1]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0" y="313639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2.  [Action detail 2]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0" y="3941064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3.  [Action detail 3]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4745736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4.  [Action detail 4]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" y="137160"/>
            <a:ext cx="10515600" cy="5669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333333"/>
                </a:solidFill>
                <a:latin typeface="Verdana"/>
              </a:rPr>
              <a:t>Action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731520"/>
            <a:ext cx="11750040" cy="36576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792" y="137160"/>
            <a:ext cx="1005840" cy="53949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914400"/>
            <a:ext cx="5303520" cy="74980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914400"/>
            <a:ext cx="2377440" cy="74980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914400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Owner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914400"/>
            <a:ext cx="2011680" cy="74980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914400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Deadline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12680" y="914400"/>
            <a:ext cx="1691640" cy="749808"/>
          </a:xfrm>
          <a:prstGeom prst="rect">
            <a:avLst/>
          </a:prstGeom>
          <a:solidFill>
            <a:srgbClr val="11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04120" y="914400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Verdana"/>
              </a:rP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664208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1664208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[Action description 1]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1664208"/>
            <a:ext cx="2377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1664208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1664208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1664208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12680" y="1664208"/>
            <a:ext cx="1691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1664208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414016"/>
            <a:ext cx="530352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414016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[Action description 2]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2414016"/>
            <a:ext cx="237744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15000" y="2414016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2414016"/>
            <a:ext cx="201168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2414016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12680" y="2414016"/>
            <a:ext cx="169164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04120" y="2414016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163824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163824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[Action description 3]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60" y="3163824"/>
            <a:ext cx="2377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3163824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01000" y="3163824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92440" y="3163824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12680" y="3163824"/>
            <a:ext cx="1691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04120" y="3163824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913632"/>
            <a:ext cx="530352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3913632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[Action description 4]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60" y="3913632"/>
            <a:ext cx="237744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715000" y="3913632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01000" y="3913632"/>
            <a:ext cx="201168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92440" y="3913632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12680" y="3913632"/>
            <a:ext cx="1691640" cy="749808"/>
          </a:xfrm>
          <a:prstGeom prst="rect">
            <a:avLst/>
          </a:prstGeom>
          <a:solidFill>
            <a:srgbClr val="F0F0F0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04120" y="3913632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663440"/>
            <a:ext cx="53035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4663440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[Action description 5]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23560" y="4663440"/>
            <a:ext cx="23774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15000" y="4663440"/>
            <a:ext cx="21945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[BDM]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01000" y="4663440"/>
            <a:ext cx="201168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92440" y="4663440"/>
            <a:ext cx="182880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[DD/MM]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12680" y="4663440"/>
            <a:ext cx="169164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0F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104120" y="4663440"/>
            <a:ext cx="1508760" cy="749808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Verdana"/>
              </a:rPr>
              <a:t>[ ]</a:t>
            </a:r>
          </a:p>
        </p:txBody>
      </p:sp>
      <p:pic>
        <p:nvPicPr>
          <p:cNvPr id="56" name="Picture 55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3032" y="4480560"/>
            <a:ext cx="1463040" cy="219456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274320" y="6583680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555555"/>
                </a:solidFill>
                <a:latin typeface="Verdana"/>
              </a:rPr>
              <a:t>KEETA Confidential · Keeta SMB BD · SP Metropolitan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