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192024"/>
            <a:ext cx="886968" cy="466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AAAAAA"/>
                </a:solidFill>
                <a:latin typeface="Verdana"/>
              </a:defRPr>
            </a:pPr>
            <a:r>
              <a:t>KEETA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Verdana"/>
              </a:defRPr>
            </a:pPr>
            <a:r>
              <a:t>Merchant Operations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E41F"/>
                </a:solidFill>
                <a:latin typeface="Verdana"/>
              </a:defRPr>
            </a:pPr>
            <a:r>
              <a:t>Survive Kit — Defense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931920"/>
            <a:ext cx="457200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Store ID: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[Store ID]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Merchant: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[Merchant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65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065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[MM/YYYY]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41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BDM: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5412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[BD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Full Period: [Month Year]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79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79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19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19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7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AVG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7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7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2606040"/>
            <a:ext cx="5394960" cy="35661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Business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[Highlight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[Highlight 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[Highlight 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79" y="2606040"/>
            <a:ext cx="5394960" cy="35661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79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Key Risks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[Risk 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[Risk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[Risk 3]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Business Growth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[Period] — Key metrics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79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19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39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1783080"/>
            <a:ext cx="11430000" cy="41605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BDBDBD"/>
                </a:solidFill>
                <a:latin typeface="Verdana"/>
              </a:defRPr>
            </a:pPr>
            <a:r>
              <a:t>[Insert Growth Chart Here]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Key Insight: [Main growth trend]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GMV Formula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Understanding what drives revenue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91919"/>
                </a:solidFill>
                <a:latin typeface="Verdana"/>
              </a:defRPr>
            </a:pPr>
            <a:r>
              <a:t>GMV = Visitors × Conversion Rate × AOV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VISITORS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[+X% MoM]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[Analysis and recommendations for this factor]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 pp]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[Analysis and recommendations for this factor]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AOV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[Analysis and recommendations for this factor]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Top Items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[Period] — by order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6858000" cy="5029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GMV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868680"/>
            <a:ext cx="4526280" cy="50292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3017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BDBDBD"/>
                </a:solidFill>
                <a:latin typeface="Verdana"/>
              </a:defRPr>
            </a:pPr>
            <a:r>
              <a:t>[Insert Item Chart]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Key Insight: [Top item drives X% of total orders]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Promotion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Investment breakdown and ROI by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TOTAL PROMO EXPENSE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[vs prior: +X%]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PROMO 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DISCOUNT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COUPON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Key Insight: [Most effective promo type and recommendation]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Service Quality + Order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Operational KPIs and quality losses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DOWNTIME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CANCELLATION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7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PREP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MARK-READY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7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3749039"/>
            <a:ext cx="11521440" cy="219456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ORDER QUALITY ISSUES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C62828"/>
                </a:solidFill>
                <a:latin typeface="Verdana"/>
              </a:defRPr>
            </a:pPr>
            <a:r>
              <a:t>TOTAL LOSS: R$ [---]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Verdana"/>
              </a:defRPr>
            </a:pPr>
            <a:r>
              <a:t>Missing Items: R$ [---]  |  Wrong Items: R$ 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[Insert Quality Issue Chart]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Action: [Specific improvement recommendation]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Customer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Last 30 days — acquisition and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194560"/>
            <a:ext cx="5029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Verdana"/>
              </a:defRPr>
            </a:pPr>
            <a:r>
              <a:t>NEW: [---%]  |  RETURNING: [---%]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New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59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[X orders/mo]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868680"/>
            <a:ext cx="5760720" cy="52120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BDBDBD"/>
                </a:solidFill>
                <a:latin typeface="Verdana"/>
              </a:defRPr>
            </a:pPr>
            <a:r>
              <a:t>[Insert Customer Chart]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99Food Threat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Competitive threat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005840"/>
            <a:ext cx="3931920" cy="9144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THREAT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C62828"/>
                </a:solidFill>
                <a:latin typeface="Verdana"/>
              </a:defRPr>
            </a:pPr>
            <a:r>
              <a:t>[HIGH / MEDIUM / LOW]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Exclusive Offer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[Details of the 99 approach]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Impact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[Potential revenue/order loss]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BD 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[Field intelligence notes]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The 99Food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What they're offering — decoded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💰 CASH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One-time 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📈 GMV 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Monthly minimum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📅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[---]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Contract length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⚠️ PENALTY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Early termination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389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Hidden Costs: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754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[List what's NOT included: no marketing support, no traffic guarantee, penalty risks, loss of negotiation power]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Revenue Impact —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Accept exclusivity vs. stay multi-platform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5029200" cy="411480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❌ ACCEPT 99 EXCLUSIVITY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2-Year Total Revenue: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Monthly Average: R$ [---]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914400"/>
            <a:ext cx="5029200" cy="4114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0292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1CC9A"/>
                </a:solidFill>
                <a:latin typeface="Verdana"/>
              </a:defRPr>
            </a:pPr>
            <a:r>
              <a:t>✅ STAY MULTI-PLATFORM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2-Year Total Revenue: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Monthly Average: R$ [---]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5303520"/>
            <a:ext cx="5760720" cy="914400"/>
          </a:xfrm>
          <a:prstGeom prst="roundRect">
            <a:avLst/>
          </a:prstGeom>
          <a:solidFill>
            <a:srgbClr val="FFF0E0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394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DIFFERENCE — YOU LOSE: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760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Multi-Platform Revenue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2-3 year cumulative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11521440" cy="36576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BDBDBD"/>
                </a:solidFill>
                <a:latin typeface="Verdana"/>
              </a:defRPr>
            </a:pPr>
            <a:r>
              <a:t>[Insert Revenue Projection Chart]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29184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Year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Year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Year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Multi-Platform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99 Exclusive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Difference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2-Year Contract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5 structural risks of accepting exclusivity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Lock-in: No exit without penalty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01168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1168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No Negotiation Power: Lose all leverage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14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10896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GMV Guarantee: Often not met in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20624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0624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Penalty Clause: High cost to terminate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30352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30352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94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Market Changes: Locked in declining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Competitive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Keeta vs 99Food —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🟢 KEETA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Verdana"/>
              </a:defRPr>
            </a:pPr>
            <a:r>
              <a:t>⚫ 99FOOD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141732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Commission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06324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BD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Payment Speed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70916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Marketing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Growth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760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Our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Defense strategy — what Keeta offers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Promotion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[Specific promo plan: items, discounts, duration]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Exclusive Incentive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[Special terms: bonus, cashback, fee reduction]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Growth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[Traffic boost, ranking priority, marketing support]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5778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191919"/>
                </a:solidFill>
                <a:latin typeface="Verdana"/>
              </a:defRPr>
            </a:pPr>
            <a:r>
              <a:t>Total Investment: R$ [---]  →  Expected Return: R$ [---]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Action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Priority actions with owners and deadlines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" y="960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9844" y="960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8724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Deadline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3828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14173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600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600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606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606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2461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429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34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434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50749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57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5]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5257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191919"/>
                </a:solidFill>
                <a:latin typeface="Verdana"/>
              </a:defRPr>
            </a:pPr>
            <a:r>
              <a:t>Next Review Date: [---]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1CC9A"/>
                </a:solidFill>
                <a:latin typeface="Verdana"/>
              </a:defRPr>
            </a:pPr>
            <a:r>
              <a:t>Stay Multi-Platform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Verdana"/>
              </a:defRPr>
            </a:pPr>
            <a:r>
              <a:t>The numbers speak clearly: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3200400" cy="20116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Revenue/mo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926080"/>
            <a:ext cx="3200400" cy="20116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2-Year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926080"/>
            <a:ext cx="3200400" cy="201168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Loss if Exclusive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3035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91919"/>
                </a:solidFill>
                <a:latin typeface="Verdana"/>
              </a:defRPr>
            </a:pPr>
            <a:r>
              <a:t>Your growth trajectory + Keeta support = stronger together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57200"/>
            <a:ext cx="155448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82880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191919"/>
                </a:solidFill>
                <a:latin typeface="Verdana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Verdana"/>
              </a:defRPr>
            </a:pPr>
            <a:r>
              <a:t>Keeta Merchant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74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Verdana"/>
              </a:defRPr>
            </a:pPr>
            <a:r>
              <a:t>Questions? Contact your BD: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Name / Nome: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[BD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Phone / Tel: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[+55 XX XXXXX-XXXX]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Email: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[name@keeta.com]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Next Visit / Próxima Visita: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