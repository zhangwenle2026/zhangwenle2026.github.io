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192024"/>
            <a:ext cx="886968" cy="4663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AAAAAA"/>
                </a:solidFill>
                <a:latin typeface="Verdana"/>
              </a:defRPr>
            </a:pPr>
            <a:r>
              <a:t>KEETA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Verdana"/>
              </a:defRPr>
            </a:pPr>
            <a:r>
              <a:t>Merchant Operations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E41F"/>
                </a:solidFill>
                <a:latin typeface="Verdana"/>
              </a:defRPr>
            </a:pPr>
            <a:r>
              <a:t>Survive Kit — Defense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931920"/>
            <a:ext cx="457200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Store ID: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[Store ID]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90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Merchant: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[Merchant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65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0657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[MM/YYYY]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5412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BDM: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5412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[BD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Full Period: [Month Year]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3566160" cy="150876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659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[MoM +X%]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79" y="868680"/>
            <a:ext cx="3566160" cy="150876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79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7" y="94183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7" y="12801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7" y="19659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[MoM +X%]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19" y="868680"/>
            <a:ext cx="3566160" cy="150876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19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7" y="94183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AVG ORDER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7" y="12801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7" y="19659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[MoM +X%]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2606040"/>
            <a:ext cx="5394960" cy="35661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606040"/>
            <a:ext cx="53949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Business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[Highlight 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23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[Highlight 2]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[Highlight 3]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79" y="2606040"/>
            <a:ext cx="5394960" cy="35661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7879" y="2606040"/>
            <a:ext cx="53949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Key Risks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200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[Risk 1]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023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[Risk 2]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[Risk 3]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Business Growth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[Period] — Key metrics trajectory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3566160" cy="685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79" y="868680"/>
            <a:ext cx="3566160" cy="685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932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399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19" y="868680"/>
            <a:ext cx="3566160" cy="685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932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AOV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78439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1783080"/>
            <a:ext cx="11430000" cy="41605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BDBDBD"/>
                </a:solidFill>
                <a:latin typeface="Verdana"/>
              </a:defRPr>
            </a:pPr>
            <a:r>
              <a:t>[Insert Growth Chart Here]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Key Insight: [Main growth trend]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GMV Formula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Understanding what drives revenue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91919"/>
                </a:solidFill>
                <a:latin typeface="Verdana"/>
              </a:defRPr>
            </a:pPr>
            <a:r>
              <a:t>GMV = Visitors × Conversion Rate × AOV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10312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10312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VISITORS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[+X% MoM]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[Analysis and recommendations for this factor]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210312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210312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[---%]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[+X pp]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31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[Analysis and recommendations for this factor]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10312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210312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AOV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931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[Analysis and recommendations for this factor]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Top Items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[Period] — by order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6858000" cy="50292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GMV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868680"/>
            <a:ext cx="4526280" cy="50292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30175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BDBDBD"/>
                </a:solidFill>
                <a:latin typeface="Verdana"/>
              </a:defRPr>
            </a:pPr>
            <a:r>
              <a:t>[Insert Item Chart]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Key Insight: [Top item drives X% of total orders]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Promotion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Investment breakdown and ROI by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TOTAL PROMO EXPENSE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[vs prior: +X%]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92024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92024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PROMO ITEM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ROI: [X]x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[Chart/details placeholder]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192024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192024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DISCOUNT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 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ROI: [X]x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023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[Chart/details placeholder]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192024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192024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COUPON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 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ROI: [X]x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023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[Chart/details placeholder]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Key Insight: [Most effective promo type and recommendation]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Service Quality + Order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Operational KPIs and quality losses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960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DOWNTIME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691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86868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960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CANCELLATION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691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86868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7" y="960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PREP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1691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219456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2286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MARK-READY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0175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219456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2286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RATING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30175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219456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0727" y="2286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7" y="30175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3749039"/>
            <a:ext cx="11521440" cy="2194560"/>
          </a:xfrm>
          <a:prstGeom prst="roundRect">
            <a:avLst/>
          </a:prstGeom>
          <a:solidFill>
            <a:srgbClr val="FF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2828"/>
                </a:solidFill>
                <a:latin typeface="Verdana"/>
              </a:defRPr>
            </a:pPr>
            <a:r>
              <a:t>ORDER QUALITY ISSUES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C62828"/>
                </a:solidFill>
                <a:latin typeface="Verdana"/>
              </a:defRPr>
            </a:pPr>
            <a:r>
              <a:t>TOTAL LOSS: R$ [---]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Verdana"/>
              </a:defRPr>
            </a:pPr>
            <a:r>
              <a:t>Missing Items: R$ [---]  |  Wrong Items: R$ [---]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206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[Insert Quality Issue Chart]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Action: [Specific improvement recommendation]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Customer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Last 30 days — acquisition and retention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TOTAL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194560"/>
            <a:ext cx="5029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Verdana"/>
              </a:defRPr>
            </a:pPr>
            <a:r>
              <a:t>NEW: [---%]  |  RETURNING: [---%]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566160"/>
            <a:ext cx="1600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657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New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9776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91919"/>
                </a:solidFill>
                <a:latin typeface="Verdana"/>
              </a:defRPr>
            </a:pPr>
            <a:r>
              <a:t>[---%]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3566160"/>
            <a:ext cx="1600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3657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9776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91919"/>
                </a:solidFill>
                <a:latin typeface="Verdana"/>
              </a:defRPr>
            </a:pPr>
            <a:r>
              <a:t>[---%]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59" y="3566160"/>
            <a:ext cx="1600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3657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Frequency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9776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91919"/>
                </a:solidFill>
                <a:latin typeface="Verdana"/>
              </a:defRPr>
            </a:pPr>
            <a:r>
              <a:t>[X orders/mo]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868680"/>
            <a:ext cx="5760720" cy="52120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BDBDBD"/>
                </a:solidFill>
                <a:latin typeface="Verdana"/>
              </a:defRPr>
            </a:pPr>
            <a:r>
              <a:t>[Insert Customer Chart]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99Food Threat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Competitive threat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005840"/>
            <a:ext cx="3931920" cy="9144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097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THREAT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1">
                <a:solidFill>
                  <a:srgbClr val="C62828"/>
                </a:solidFill>
                <a:latin typeface="Verdana"/>
              </a:defRPr>
            </a:pPr>
            <a:r>
              <a:t>[HIGH / MEDIUM / LOW]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286000"/>
            <a:ext cx="365760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286000"/>
            <a:ext cx="36576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Exclusive Offer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[Details of the 99 approach]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286000"/>
            <a:ext cx="365760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2286000"/>
            <a:ext cx="36576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Impact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34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[Potential revenue/order loss]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286000"/>
            <a:ext cx="365760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2286000"/>
            <a:ext cx="36576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BD Observations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34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[Field intelligence notes]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The 99Food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What they're offering — decoded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💰 CASH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One-time payment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📈 GMV GUARANTEE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Monthly minimum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📅 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[---]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Contract length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⚠️ PENALTY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Early termination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389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2828"/>
                </a:solidFill>
                <a:latin typeface="Verdana"/>
              </a:defRPr>
            </a:pPr>
            <a:r>
              <a:t>Hidden Costs: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754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[List what's NOT included: no marketing support, no traffic guarantee, penalty risks, loss of negotiation power]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Revenue Impact — The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Accept exclusivity vs. stay multi-platform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5029200" cy="4114800"/>
          </a:xfrm>
          <a:prstGeom prst="roundRect">
            <a:avLst/>
          </a:prstGeom>
          <a:solidFill>
            <a:srgbClr val="FF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02920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2828"/>
                </a:solidFill>
                <a:latin typeface="Verdana"/>
              </a:defRPr>
            </a:pPr>
            <a:r>
              <a:t>❌ ACCEPT 99 EXCLUSIVITY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2-Year Total Revenue: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Monthly Average: R$ [---]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914400"/>
            <a:ext cx="5029200" cy="4114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0292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097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1CC9A"/>
                </a:solidFill>
                <a:latin typeface="Verdana"/>
              </a:defRPr>
            </a:pPr>
            <a:r>
              <a:t>✅ STAY MULTI-PLATFORM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2-Year Total Revenue: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1">
                <a:solidFill>
                  <a:srgbClr val="11CC9A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Monthly Average: R$ [---]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5303520"/>
            <a:ext cx="5760720" cy="914400"/>
          </a:xfrm>
          <a:prstGeom prst="roundRect">
            <a:avLst/>
          </a:prstGeom>
          <a:solidFill>
            <a:srgbClr val="FFF0E0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5394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DIFFERENCE — YOU LOSE: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760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Multi-Platform Revenue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2-3 year cumulative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11521440" cy="36576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BDBDBD"/>
                </a:solidFill>
                <a:latin typeface="Verdana"/>
              </a:defRPr>
            </a:pPr>
            <a:r>
              <a:t>[Insert Revenue Projection Chart]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29184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Year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Year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Year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Multi-Platform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99 Exclusive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Difference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2-Year Contract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5 structural risks of accepting exclusivity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05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Lock-in: No exit without penalty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17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[Specific details for this merchant]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01168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01168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No Negotiation Power: Lose all leverage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514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[Specific details for this merchant]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10896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10896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46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GMV Guarantee: Often not met in 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11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[Specific details for this merchant]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20624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20624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976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343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Penalty Clause: High cost to terminate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[Specific details for this merchant]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530352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530352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3949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440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Market Changes: Locked in declining terms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[Specific details for this merchant]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Competitive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Keeta vs 99Food —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🟢 KEETA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Verdana"/>
              </a:defRPr>
            </a:pPr>
            <a:r>
              <a:t>⚫ 99FOOD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11521440" cy="27432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" y="1417320"/>
            <a:ext cx="11521440" cy="77724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Commission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[Keeta advantage]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[99 comparison]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[Keeta advantage]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77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[99 comparison]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063240"/>
            <a:ext cx="11521440" cy="77724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BD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[Keeta advantage]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[99 comparison]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Payment Speed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[Keeta advantage]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[99 comparison]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709160"/>
            <a:ext cx="11521440" cy="77724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Marketing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[Keeta advantage]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[99 comparison]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669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Growth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669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[Keeta advantage]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669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[99 comparison]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Our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Defense strategy — what Keeta offers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3657600" cy="43891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36576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91919"/>
                </a:solidFill>
                <a:latin typeface="Verdana"/>
              </a:defRPr>
            </a:pPr>
            <a: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Promotion 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[Specific promo plan: items, discounts, duration]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914400"/>
            <a:ext cx="3657600" cy="43891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914400"/>
            <a:ext cx="36576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097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91919"/>
                </a:solidFill>
                <a:latin typeface="Verdana"/>
              </a:defRPr>
            </a:pPr>
            <a:r>
              <a:t>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Exclusive Incentive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1031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[Special terms: bonus, cashback, fee reduction]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914400"/>
            <a:ext cx="3657600" cy="43891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914400"/>
            <a:ext cx="36576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097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91919"/>
                </a:solidFill>
                <a:latin typeface="Verdana"/>
              </a:defRPr>
            </a:pPr>
            <a: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Growth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1031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[Traffic boost, ranking priority, marketing support]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5778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191919"/>
                </a:solidFill>
                <a:latin typeface="Verdana"/>
              </a:defRPr>
            </a:pPr>
            <a:r>
              <a:t>Total Investment: R$ [---]  →  Expected Return: R$ [---]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Action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Priority actions with owners and deadlines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" y="960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9844" y="960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8724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Deadline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3828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34440"/>
            <a:ext cx="11521440" cy="27432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" y="1417320"/>
            <a:ext cx="11521440" cy="82296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600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1600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14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514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514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3246120"/>
            <a:ext cx="11521440" cy="82296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29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429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3429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43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4]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4343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" y="5074920"/>
            <a:ext cx="11521440" cy="82296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257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257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5]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5257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1">
                <a:solidFill>
                  <a:srgbClr val="191919"/>
                </a:solidFill>
                <a:latin typeface="Verdana"/>
              </a:defRPr>
            </a:pPr>
            <a:r>
              <a:t>Next Review Date: [---]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1CC9A"/>
                </a:solidFill>
                <a:latin typeface="Verdana"/>
              </a:defRPr>
            </a:pPr>
            <a:r>
              <a:t>Stay Multi-Platform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860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66666"/>
                </a:solidFill>
                <a:latin typeface="Verdana"/>
              </a:defRPr>
            </a:pPr>
            <a:r>
              <a:t>The numbers speak clearly: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926080"/>
            <a:ext cx="3200400" cy="20116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Revenue/mo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1">
                <a:solidFill>
                  <a:srgbClr val="11CC9A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926080"/>
            <a:ext cx="3200400" cy="20116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2-Year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1">
                <a:solidFill>
                  <a:srgbClr val="11CC9A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926080"/>
            <a:ext cx="3200400" cy="2011680"/>
          </a:xfrm>
          <a:prstGeom prst="roundRect">
            <a:avLst/>
          </a:prstGeom>
          <a:solidFill>
            <a:srgbClr val="FF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Loss if Exclusive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3035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91919"/>
                </a:solidFill>
                <a:latin typeface="Verdana"/>
              </a:defRPr>
            </a:pPr>
            <a:r>
              <a:t>Your growth trajectory + Keeta support = stronger together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457200"/>
            <a:ext cx="1554480" cy="84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182880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191919"/>
                </a:solidFill>
                <a:latin typeface="Verdana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66666"/>
                </a:solidFill>
                <a:latin typeface="Verdana"/>
              </a:defRPr>
            </a:pPr>
            <a:r>
              <a:t>Keeta Merchant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474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Verdana"/>
              </a:defRPr>
            </a:pPr>
            <a:r>
              <a:t>Questions? Contact your BD: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Name / Nome: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[BD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Phone / Tel: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[+55 XX XXXXX-XXXX]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Email: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[name@keeta.com]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Next Visit / Próxima Visita: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pic>
        <p:nvPicPr>
          <p:cNvPr id="15" name="Picture 1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754880"/>
            <a:ext cx="1645920" cy="1920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