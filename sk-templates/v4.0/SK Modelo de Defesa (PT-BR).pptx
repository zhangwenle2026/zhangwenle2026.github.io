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0816" y="192024"/>
            <a:ext cx="886968" cy="4663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AAAAAA"/>
                </a:solidFill>
                <a:latin typeface="Verdana"/>
              </a:defRPr>
            </a:pPr>
            <a:r>
              <a:t>KEETA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560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Verdana"/>
              </a:defRPr>
            </a:pPr>
            <a:r>
              <a:t>Relatório de Operações do Comerciante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E41F"/>
                </a:solidFill>
                <a:latin typeface="Verdana"/>
              </a:defRPr>
            </a:pPr>
            <a:r>
              <a:t>Survive Kit — Estratégia de Defesa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931920"/>
            <a:ext cx="457200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AAAAAA"/>
                </a:solidFill>
                <a:latin typeface="Verdana"/>
              </a:defRPr>
            </a:pPr>
            <a:r>
              <a:t>ID da Loja: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4114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FFFFFF"/>
                </a:solidFill>
                <a:latin typeface="Verdana"/>
              </a:defRPr>
            </a:pPr>
            <a:r>
              <a:t>[ID]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5902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AAAAAA"/>
                </a:solidFill>
                <a:latin typeface="Verdana"/>
              </a:defRPr>
            </a:pPr>
            <a:r>
              <a:t>Comerciante: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4590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FFFFFF"/>
                </a:solidFill>
                <a:latin typeface="Verdana"/>
              </a:defRPr>
            </a:pPr>
            <a:r>
              <a:t>[Nome]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0657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AAAAAA"/>
                </a:solidFill>
                <a:latin typeface="Verdana"/>
              </a:defRPr>
            </a:pPr>
            <a:r>
              <a:t>Data: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506577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FFFFFF"/>
                </a:solidFill>
                <a:latin typeface="Verdana"/>
              </a:defRPr>
            </a:pPr>
            <a:r>
              <a:t>[MM/AAAA]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5412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AAAAAA"/>
                </a:solidFill>
                <a:latin typeface="Verdana"/>
              </a:defRPr>
            </a:pPr>
            <a:r>
              <a:t>BDM: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554126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FFFFFF"/>
                </a:solidFill>
                <a:latin typeface="Verdana"/>
              </a:defRPr>
            </a:pPr>
            <a:r>
              <a:t>[Nome BD]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Resumo Executivo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Período: [Mês Ano]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868680"/>
            <a:ext cx="3566160" cy="150876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941832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VENDAS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280160"/>
            <a:ext cx="3346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1">
                <a:solidFill>
                  <a:srgbClr val="191919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1965960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[MoM +X%]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9079" y="868680"/>
            <a:ext cx="3566160" cy="150876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9079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78807" y="941832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PEDIDOS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78807" y="1280160"/>
            <a:ext cx="3346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1">
                <a:solidFill>
                  <a:srgbClr val="191919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78807" y="1965960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[MoM +X%]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19" y="868680"/>
            <a:ext cx="3566160" cy="150876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19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7847" y="941832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TICKET MÉDIO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7847" y="1280160"/>
            <a:ext cx="3346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1">
                <a:solidFill>
                  <a:srgbClr val="191919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7847" y="1965960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[MoM +X%]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2606040"/>
            <a:ext cx="5394960" cy="356616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2606040"/>
            <a:ext cx="53949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697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91919"/>
                </a:solidFill>
                <a:latin typeface="Verdana"/>
              </a:defRPr>
            </a:pPr>
            <a:r>
              <a:t>Crescimento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200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BDBDBD"/>
                </a:solidFill>
                <a:latin typeface="Verdana"/>
              </a:defRPr>
            </a:pPr>
            <a:r>
              <a:t>• [Destaque 1]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0233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BDBDBD"/>
                </a:solidFill>
                <a:latin typeface="Verdana"/>
              </a:defRPr>
            </a:pPr>
            <a:r>
              <a:t>• [Destaque 2]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BDBDBD"/>
                </a:solidFill>
                <a:latin typeface="Verdana"/>
              </a:defRPr>
            </a:pPr>
            <a:r>
              <a:t>• [Destaque 3]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97879" y="2606040"/>
            <a:ext cx="5394960" cy="356616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97879" y="2606040"/>
            <a:ext cx="53949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0" y="2697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91919"/>
                </a:solidFill>
                <a:latin typeface="Verdana"/>
              </a:defRPr>
            </a:pPr>
            <a:r>
              <a:t>Riscos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3200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BDBDBD"/>
                </a:solidFill>
                <a:latin typeface="Verdana"/>
              </a:defRPr>
            </a:pPr>
            <a:r>
              <a:t>• [Risco 1]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40233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BDBDBD"/>
                </a:solidFill>
                <a:latin typeface="Verdana"/>
              </a:defRPr>
            </a:pPr>
            <a:r>
              <a:t>• [Risco 2]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BDBDBD"/>
                </a:solidFill>
                <a:latin typeface="Verdana"/>
              </a:defRPr>
            </a:pPr>
            <a:r>
              <a:t>• [Risco 3]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Visão de Crescimento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[Período] — Trajetória dos indicadores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868680"/>
            <a:ext cx="3566160" cy="68580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9326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VENDAS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932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1">
                <a:solidFill>
                  <a:srgbClr val="BDBDBD"/>
                </a:solidFill>
                <a:latin typeface="Verdana"/>
              </a:defRPr>
            </a:pPr>
            <a:r>
              <a:t>[+X%]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79" y="868680"/>
            <a:ext cx="3566160" cy="68580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9326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PEDIDOS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399" y="932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1">
                <a:solidFill>
                  <a:srgbClr val="BDBDBD"/>
                </a:solidFill>
                <a:latin typeface="Verdana"/>
              </a:defRPr>
            </a:pPr>
            <a:r>
              <a:t>[+X%]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19" y="868680"/>
            <a:ext cx="3566160" cy="68580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9326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AOV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78439" y="932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1">
                <a:solidFill>
                  <a:srgbClr val="BDBDBD"/>
                </a:solidFill>
                <a:latin typeface="Verdana"/>
              </a:defRPr>
            </a:pPr>
            <a:r>
              <a:t>[+X%]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1783080"/>
            <a:ext cx="11430000" cy="416052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3474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1">
                <a:solidFill>
                  <a:srgbClr val="BDBDBD"/>
                </a:solidFill>
                <a:latin typeface="Verdana"/>
              </a:defRPr>
            </a:pPr>
            <a:r>
              <a:t>[Inserir Gráfico de Crescimento]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6126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Insight: [Tendência principal]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Fórmula GMV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Entendendo o que impulsiona a receita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0972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191919"/>
                </a:solidFill>
                <a:latin typeface="Verdana"/>
              </a:defRPr>
            </a:pPr>
            <a:r>
              <a:t>GMV = Visitantes × Taxa de Conversão × AOV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2103120"/>
            <a:ext cx="3657600" cy="34747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2103120"/>
            <a:ext cx="365760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VISITANTES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1">
                <a:solidFill>
                  <a:srgbClr val="191919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83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BDBDBD"/>
                </a:solidFill>
                <a:latin typeface="Verdana"/>
              </a:defRPr>
            </a:pPr>
            <a:r>
              <a:t>[+X%]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3192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[Análise e recomendações]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59" y="2103120"/>
            <a:ext cx="3657600" cy="34747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59" y="2103120"/>
            <a:ext cx="365760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240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CONVERSÃO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743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1">
                <a:solidFill>
                  <a:srgbClr val="191919"/>
                </a:solidFill>
                <a:latin typeface="Verdana"/>
              </a:defRPr>
            </a:pPr>
            <a:r>
              <a:t>[---%]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383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BDBDBD"/>
                </a:solidFill>
                <a:latin typeface="Verdana"/>
              </a:defRPr>
            </a:pPr>
            <a:r>
              <a:t>[+X pp]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93192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[Análise e recomendações]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2103120"/>
            <a:ext cx="3657600" cy="34747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83879" y="2103120"/>
            <a:ext cx="365760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2240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AOV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743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1">
                <a:solidFill>
                  <a:srgbClr val="191919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383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BDBDBD"/>
                </a:solidFill>
                <a:latin typeface="Verdana"/>
              </a:defRPr>
            </a:pPr>
            <a:r>
              <a:t>[+X%]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93192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[Análise e recomendações]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Desempenho dos Itens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[Período] — por volume de pedidos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868680"/>
            <a:ext cx="6858000" cy="50292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960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#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960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Item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960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Pedidos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960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GMV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960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25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1325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1325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325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1325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103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2103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2103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103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2103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880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2880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2880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2880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2880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6576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36576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36576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36576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36576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434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83080" y="4434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0" y="4434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4434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4434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06640" y="868680"/>
            <a:ext cx="4526280" cy="502920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0" y="30175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BDBDBD"/>
                </a:solidFill>
                <a:latin typeface="Verdana"/>
              </a:defRPr>
            </a:pPr>
            <a:r>
              <a:t>[Inserir Gráfico]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" y="6126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Insight: [Item principal representa X% dos pedidos]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Análise de Promoções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Investimento e ROI por tipo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868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GASTO TOTAL PROMO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143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1">
                <a:solidFill>
                  <a:srgbClr val="191919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234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[vs prior: +X%]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920240"/>
            <a:ext cx="3657600" cy="34747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920240"/>
            <a:ext cx="365760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0574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ITEM PROMO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68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1">
                <a:solidFill>
                  <a:srgbClr val="191919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17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[---] pedidos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74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1">
                <a:solidFill>
                  <a:srgbClr val="BDBDBD"/>
                </a:solidFill>
                <a:latin typeface="Verdana"/>
              </a:defRPr>
            </a:pPr>
            <a:r>
              <a:t>ROI: [X]x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233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[Chart/details placeholder]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1920240"/>
            <a:ext cx="3657600" cy="34747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60520" y="1920240"/>
            <a:ext cx="365760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20574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DESCONTO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2468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1">
                <a:solidFill>
                  <a:srgbClr val="191919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017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[---] pedidos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3474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1">
                <a:solidFill>
                  <a:srgbClr val="BDBDBD"/>
                </a:solidFill>
                <a:latin typeface="Verdana"/>
              </a:defRPr>
            </a:pPr>
            <a:r>
              <a:t>ROI: [X]x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0233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[Chart/details placeholder]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01000" y="1920240"/>
            <a:ext cx="3657600" cy="34747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1000" y="1920240"/>
            <a:ext cx="365760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20574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CUPOM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2468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1">
                <a:solidFill>
                  <a:srgbClr val="191919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3017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[---] pedidos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3474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1">
                <a:solidFill>
                  <a:srgbClr val="BDBDBD"/>
                </a:solidFill>
                <a:latin typeface="Verdana"/>
              </a:defRPr>
            </a:pPr>
            <a:r>
              <a:t>ROI: [X]x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0233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[Chart/details placeholder]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6126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Insight: [Tipo de promo mais eficaz]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Qualidade + Problemas de Pedidos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KPIs operacionais e perdas de qualidade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868680"/>
            <a:ext cx="3657600" cy="11887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96012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CC9A"/>
                </a:solidFill>
                <a:latin typeface="Verdana"/>
              </a:defRPr>
            </a:pPr>
            <a:r>
              <a:t>INATIVIDADE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234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1">
                <a:solidFill>
                  <a:srgbClr val="191919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69164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BDBDBD"/>
                </a:solidFill>
                <a:latin typeface="Verdana"/>
              </a:defRPr>
            </a:pPr>
            <a:r>
              <a:t>[vs prior]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868680"/>
            <a:ext cx="3657600" cy="11887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0248" y="96012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CC9A"/>
                </a:solidFill>
                <a:latin typeface="Verdana"/>
              </a:defRPr>
            </a:pPr>
            <a:r>
              <a:t>CANCELAMENTO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0248" y="1234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1">
                <a:solidFill>
                  <a:srgbClr val="191919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0248" y="169164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BDBDBD"/>
                </a:solidFill>
                <a:latin typeface="Verdana"/>
              </a:defRPr>
            </a:pPr>
            <a:r>
              <a:t>[vs prior]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868680"/>
            <a:ext cx="3657600" cy="11887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0727" y="96012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CC9A"/>
                </a:solidFill>
                <a:latin typeface="Verdana"/>
              </a:defRPr>
            </a:pPr>
            <a:r>
              <a:t>T. PREPARO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0727" y="1234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1">
                <a:solidFill>
                  <a:srgbClr val="191919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0727" y="169164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BDBDBD"/>
                </a:solidFill>
                <a:latin typeface="Verdana"/>
              </a:defRPr>
            </a:pPr>
            <a:r>
              <a:t>[vs prior]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2194560"/>
            <a:ext cx="3657600" cy="11887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" y="228600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CC9A"/>
                </a:solidFill>
                <a:latin typeface="Verdana"/>
              </a:defRPr>
            </a:pPr>
            <a:r>
              <a:t>MARCAR PRONTO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" y="2560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1">
                <a:solidFill>
                  <a:srgbClr val="191919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" y="301752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BDBDBD"/>
                </a:solidFill>
                <a:latin typeface="Verdana"/>
              </a:defRPr>
            </a:pPr>
            <a:r>
              <a:t>[vs prior]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2194560"/>
            <a:ext cx="3657600" cy="11887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70248" y="228600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CC9A"/>
                </a:solidFill>
                <a:latin typeface="Verdana"/>
              </a:defRPr>
            </a:pPr>
            <a:r>
              <a:t>AVALIAÇÃO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0248" y="2560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1">
                <a:solidFill>
                  <a:srgbClr val="191919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0248" y="301752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BDBDBD"/>
                </a:solidFill>
                <a:latin typeface="Verdana"/>
              </a:defRPr>
            </a:pPr>
            <a:r>
              <a:t>[vs prior]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01000" y="2194560"/>
            <a:ext cx="3657600" cy="11887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0727" y="228600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CC9A"/>
                </a:solidFill>
                <a:latin typeface="Verdana"/>
              </a:defRPr>
            </a:pPr>
            <a:r>
              <a:t>PRECISÃO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0727" y="2560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1">
                <a:solidFill>
                  <a:srgbClr val="191919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0727" y="301752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BDBDBD"/>
                </a:solidFill>
                <a:latin typeface="Verdana"/>
              </a:defRPr>
            </a:pPr>
            <a:r>
              <a:t>[vs prior]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0040" y="3749039"/>
            <a:ext cx="11521440" cy="2194560"/>
          </a:xfrm>
          <a:prstGeom prst="roundRect">
            <a:avLst/>
          </a:prstGeom>
          <a:solidFill>
            <a:srgbClr val="FF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C62828"/>
                </a:solidFill>
                <a:latin typeface="Verdana"/>
              </a:defRPr>
            </a:pPr>
            <a:r>
              <a:t>PROBLEMAS DE QUALIDADE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1">
                <a:solidFill>
                  <a:srgbClr val="C62828"/>
                </a:solidFill>
                <a:latin typeface="Verdana"/>
              </a:defRPr>
            </a:pPr>
            <a:r>
              <a:t>TOTAL LOSS: R$ [---]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846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Verdana"/>
              </a:defRPr>
            </a:pPr>
            <a:r>
              <a:t>Itens Faltantes: R$ [---]  |  Itens Errados: R$ [---]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2062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BDBDBD"/>
                </a:solidFill>
                <a:latin typeface="Verdana"/>
              </a:defRPr>
            </a:pPr>
            <a:r>
              <a:t>[Inserir Gráfico]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6126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Ação: [Recomendação específica]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Análise de Clientes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Últimos 30 dias — aquisição e retenção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TOTAL CLIENTES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3716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1">
                <a:solidFill>
                  <a:srgbClr val="191919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2194560"/>
            <a:ext cx="5029200" cy="109728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66666"/>
                </a:solidFill>
                <a:latin typeface="Verdana"/>
              </a:defRPr>
            </a:pPr>
            <a:r>
              <a:t>NOVOS: [---%]  |  RECORRENTES: [---%]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3566160"/>
            <a:ext cx="1600200" cy="109728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3657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CC9A"/>
                </a:solidFill>
                <a:latin typeface="Verdana"/>
              </a:defRPr>
            </a:pPr>
            <a:r>
              <a:t>Taxa Novos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97763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191919"/>
                </a:solidFill>
                <a:latin typeface="Verdana"/>
              </a:defRPr>
            </a:pPr>
            <a:r>
              <a:t>[---%]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3566160"/>
            <a:ext cx="1600200" cy="109728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48840" y="3657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CC9A"/>
                </a:solidFill>
                <a:latin typeface="Verdana"/>
              </a:defRPr>
            </a:pPr>
            <a:r>
              <a:t>Retenção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97763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191919"/>
                </a:solidFill>
                <a:latin typeface="Verdana"/>
              </a:defRPr>
            </a:pPr>
            <a:r>
              <a:t>[---%]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59" y="3566160"/>
            <a:ext cx="1600200" cy="109728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6200" y="3657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CC9A"/>
                </a:solidFill>
                <a:latin typeface="Verdana"/>
              </a:defRPr>
            </a:pPr>
            <a:r>
              <a:t>Frequência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397763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191919"/>
                </a:solidFill>
                <a:latin typeface="Verdana"/>
              </a:defRPr>
            </a:pPr>
            <a:r>
              <a:t>[X ped/mês]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868680"/>
            <a:ext cx="5760720" cy="521208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3200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BDBDBD"/>
                </a:solidFill>
                <a:latin typeface="Verdana"/>
              </a:defRPr>
            </a:pPr>
            <a:r>
              <a:t>[Inserir Gráfico]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Visão Geral da Ameaça 99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Avaliação da ameaça competitiva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005840"/>
            <a:ext cx="3931920" cy="914400"/>
          </a:xfrm>
          <a:prstGeom prst="roundRect">
            <a:avLst/>
          </a:prstGeom>
          <a:solidFill>
            <a:srgbClr val="FFF0F0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0972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C62828"/>
                </a:solidFill>
                <a:latin typeface="Verdana"/>
              </a:defRPr>
            </a:pPr>
            <a:r>
              <a:t>NÍVEL DE AMEAÇA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463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1">
                <a:solidFill>
                  <a:srgbClr val="C62828"/>
                </a:solidFill>
                <a:latin typeface="Verdana"/>
              </a:defRPr>
            </a:pPr>
            <a:r>
              <a:t>[HIGH / MEDIUM / LOW]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2286000"/>
            <a:ext cx="3657600" cy="36576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286000"/>
            <a:ext cx="3657600" cy="457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4231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62828"/>
                </a:solidFill>
                <a:latin typeface="Verdana"/>
              </a:defRPr>
            </a:pPr>
            <a:r>
              <a:t>Oferta Exclusiva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3464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[Detalhes da abordagem]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2286000"/>
            <a:ext cx="3657600" cy="36576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0520" y="2286000"/>
            <a:ext cx="3657600" cy="457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24231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62828"/>
                </a:solidFill>
                <a:latin typeface="Verdana"/>
              </a:defRPr>
            </a:pPr>
            <a:r>
              <a:t>Avaliação de Impacto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83464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[Perda potencial]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2286000"/>
            <a:ext cx="3657600" cy="36576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1000" y="2286000"/>
            <a:ext cx="3657600" cy="457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24231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62828"/>
                </a:solidFill>
                <a:latin typeface="Verdana"/>
              </a:defRPr>
            </a:pPr>
            <a:r>
              <a:t>Observações BD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83464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[Notas de campo]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A Proposta da 99Food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O que estão oferecendo — decodificado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914400"/>
            <a:ext cx="2743200" cy="32004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914400"/>
            <a:ext cx="2743200" cy="457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C62828"/>
                </a:solidFill>
                <a:latin typeface="Verdana"/>
              </a:defRPr>
            </a:pPr>
            <a:r>
              <a:t>💰 CASH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1">
                <a:solidFill>
                  <a:srgbClr val="191919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94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66666"/>
                </a:solidFill>
                <a:latin typeface="Verdana"/>
              </a:defRPr>
            </a:pPr>
            <a:r>
              <a:t>Pagamento único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914400"/>
            <a:ext cx="2743200" cy="32004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914400"/>
            <a:ext cx="2743200" cy="457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097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C62828"/>
                </a:solidFill>
                <a:latin typeface="Verdana"/>
              </a:defRPr>
            </a:pPr>
            <a:r>
              <a:t>📈 GMV GUARANTEE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1">
                <a:solidFill>
                  <a:srgbClr val="191919"/>
                </a:solidFill>
                <a:latin typeface="Verdana"/>
              </a:defRPr>
            </a:pPr>
            <a:r>
              <a:t>R$ [---]/mês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194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66666"/>
                </a:solidFill>
                <a:latin typeface="Verdana"/>
              </a:defRPr>
            </a:pPr>
            <a:r>
              <a:t>Mínimo mensal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914400"/>
            <a:ext cx="2743200" cy="32004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914400"/>
            <a:ext cx="2743200" cy="457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097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C62828"/>
                </a:solidFill>
                <a:latin typeface="Verdana"/>
              </a:defRPr>
            </a:pPr>
            <a:r>
              <a:t>📅 DURATION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1">
                <a:solidFill>
                  <a:srgbClr val="191919"/>
                </a:solidFill>
                <a:latin typeface="Verdana"/>
              </a:defRPr>
            </a:pPr>
            <a:r>
              <a:t>[---] meses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194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66666"/>
                </a:solidFill>
                <a:latin typeface="Verdana"/>
              </a:defRPr>
            </a:pPr>
            <a:r>
              <a:t>Duração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914400"/>
            <a:ext cx="2743200" cy="32004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98280" y="914400"/>
            <a:ext cx="2743200" cy="457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1097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C62828"/>
                </a:solidFill>
                <a:latin typeface="Verdana"/>
              </a:defRPr>
            </a:pPr>
            <a:r>
              <a:t>⚠️ PENALTY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1">
                <a:solidFill>
                  <a:srgbClr val="191919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194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66666"/>
                </a:solidFill>
                <a:latin typeface="Verdana"/>
              </a:defRPr>
            </a:pPr>
            <a:r>
              <a:t>Rescisão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43891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C62828"/>
                </a:solidFill>
                <a:latin typeface="Verdana"/>
              </a:defRPr>
            </a:pPr>
            <a:r>
              <a:t>Custos Ocultos: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475488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[Liste o que NÃO está incluído: sem suporte de marketing, sem garantia de tráfego, riscos de multa, perda de poder de negociação]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Impacto na Receita — A Conta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Aceitar exclusividade vs. multi-plataforma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914400"/>
            <a:ext cx="5029200" cy="4114800"/>
          </a:xfrm>
          <a:prstGeom prst="roundRect">
            <a:avLst/>
          </a:prstGeom>
          <a:solidFill>
            <a:srgbClr val="FF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914400"/>
            <a:ext cx="5029200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C62828"/>
                </a:solidFill>
                <a:latin typeface="Verdana"/>
              </a:defRPr>
            </a:pPr>
            <a:r>
              <a:t>❌ ACEITAR EXCLUSIVIDADE 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Receita Total 2 Anos: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20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1">
                <a:solidFill>
                  <a:srgbClr val="C62828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603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Média Mensal: R$ [---]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914400"/>
            <a:ext cx="5029200" cy="411480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914400"/>
            <a:ext cx="5029200" cy="54864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0972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1CC9A"/>
                </a:solidFill>
                <a:latin typeface="Verdana"/>
              </a:defRPr>
            </a:pPr>
            <a:r>
              <a:t>✅ MANTER MULTI-PLATAFORMA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5544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Receita Total 2 Anos: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920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1">
                <a:solidFill>
                  <a:srgbClr val="11CC9A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5603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Média Mensal: R$ [---]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5303520"/>
            <a:ext cx="5760720" cy="914400"/>
          </a:xfrm>
          <a:prstGeom prst="roundRect">
            <a:avLst/>
          </a:prstGeom>
          <a:solidFill>
            <a:srgbClr val="FFF0E0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53949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C62828"/>
                </a:solidFill>
                <a:latin typeface="Verdana"/>
              </a:defRPr>
            </a:pPr>
            <a:r>
              <a:t>DIFERENÇA — VOCÊ PERDE: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57607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1">
                <a:solidFill>
                  <a:srgbClr val="C62828"/>
                </a:solidFill>
                <a:latin typeface="Verdana"/>
              </a:defRPr>
            </a:pPr>
            <a:r>
              <a:t>R$ [---]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Projeção Multi-Plataforma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Comparação cumulativa 2-3 anos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868680"/>
            <a:ext cx="11521440" cy="365760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2377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1">
                <a:solidFill>
                  <a:srgbClr val="BDBDBD"/>
                </a:solidFill>
                <a:latin typeface="Verdana"/>
              </a:defRPr>
            </a:pPr>
            <a:r>
              <a:t>[Inserir Gráfico de Projeção]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29184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Ano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Ano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Ano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074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Multi-Plataforma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5074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5074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5074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486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99 Exclusivo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5486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5486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5486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897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Diferença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5897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C62828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5897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C62828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5897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C62828"/>
                </a:solidFill>
                <a:latin typeface="Verdana"/>
              </a:defRPr>
            </a:pPr>
            <a:r>
              <a:t>R$ [---]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Riscos do Contrato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5 riscos estruturais da exclusividade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914400"/>
            <a:ext cx="11521440" cy="9601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914400"/>
            <a:ext cx="54864" cy="9601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005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91919"/>
                </a:solidFill>
                <a:latin typeface="Verdana"/>
              </a:defRPr>
            </a:pPr>
            <a:r>
              <a:t>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051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91919"/>
                </a:solidFill>
                <a:latin typeface="Verdana"/>
              </a:defRPr>
            </a:pPr>
            <a:r>
              <a:t>Bloqueio: Sem saída sem multa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417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[Detalhes específicos]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2011680"/>
            <a:ext cx="11521440" cy="9601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011680"/>
            <a:ext cx="54864" cy="9601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91919"/>
                </a:solidFill>
                <a:latin typeface="Verdana"/>
              </a:defRPr>
            </a:pPr>
            <a:r>
              <a:t>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148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91919"/>
                </a:solidFill>
                <a:latin typeface="Verdana"/>
              </a:defRPr>
            </a:pPr>
            <a:r>
              <a:t>Sem Poder de Negociação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514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[Detalhes específicos]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3108960"/>
            <a:ext cx="11521440" cy="9601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108960"/>
            <a:ext cx="54864" cy="9601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200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91919"/>
                </a:solidFill>
                <a:latin typeface="Verdana"/>
              </a:defRPr>
            </a:pPr>
            <a:r>
              <a:t>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246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91919"/>
                </a:solidFill>
                <a:latin typeface="Verdana"/>
              </a:defRPr>
            </a:pPr>
            <a:r>
              <a:t>Garantia GMV: Raramente cumprida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611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[Detalhes específicos]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4206240"/>
            <a:ext cx="11521440" cy="9601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206240"/>
            <a:ext cx="54864" cy="9601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29767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91919"/>
                </a:solidFill>
                <a:latin typeface="Verdana"/>
              </a:defRPr>
            </a:pPr>
            <a:r>
              <a:t>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343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91919"/>
                </a:solidFill>
                <a:latin typeface="Verdana"/>
              </a:defRPr>
            </a:pPr>
            <a:r>
              <a:t>Multa: Alto custo para rescindir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7091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[Detalhes específicos]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" y="5303520"/>
            <a:ext cx="11521440" cy="9601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5303520"/>
            <a:ext cx="54864" cy="9601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39495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91919"/>
                </a:solidFill>
                <a:latin typeface="Verdana"/>
              </a:defRPr>
            </a:pPr>
            <a:r>
              <a:t>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4406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91919"/>
                </a:solidFill>
                <a:latin typeface="Verdana"/>
              </a:defRPr>
            </a:pPr>
            <a:r>
              <a:t>Mudanças: Preso em termos ruins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806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[Detalhes específicos]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Comparação Competitiva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Keeta vs 99Food — lado a lado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MÉTRICA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🟢 KEETA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914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666666"/>
                </a:solidFill>
                <a:latin typeface="Verdana"/>
              </a:defRPr>
            </a:pPr>
            <a:r>
              <a:t>⚫ 99FOOD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234440"/>
            <a:ext cx="11521440" cy="27432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0040" y="1417320"/>
            <a:ext cx="11521440" cy="777240"/>
          </a:xfrm>
          <a:prstGeom prst="roundRect">
            <a:avLst/>
          </a:prstGeom>
          <a:solidFill>
            <a:srgbClr val="FAFCFB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Comissão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1554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11CC9A"/>
                </a:solidFill>
                <a:latin typeface="Verdana"/>
              </a:defRPr>
            </a:pPr>
            <a:r>
              <a:t>[Vantagem Keeta]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554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[Comparação 99]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377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Tráfego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377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11CC9A"/>
                </a:solidFill>
                <a:latin typeface="Verdana"/>
              </a:defRPr>
            </a:pPr>
            <a:r>
              <a:t>[Vantagem Keeta]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377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[Comparação 99]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3063240"/>
            <a:ext cx="11521440" cy="777240"/>
          </a:xfrm>
          <a:prstGeom prst="roundRect">
            <a:avLst/>
          </a:prstGeom>
          <a:solidFill>
            <a:srgbClr val="FAFCFB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200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Suporte BD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200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11CC9A"/>
                </a:solidFill>
                <a:latin typeface="Verdana"/>
              </a:defRPr>
            </a:pPr>
            <a:r>
              <a:t>[Vantagem Keeta]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200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[Comparação 99]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23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Velocidade Pagamento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0233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11CC9A"/>
                </a:solidFill>
                <a:latin typeface="Verdana"/>
              </a:defRPr>
            </a:pPr>
            <a:r>
              <a:t>[Vantagem Keeta]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023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[Comparação 99]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4709160"/>
            <a:ext cx="11521440" cy="777240"/>
          </a:xfrm>
          <a:prstGeom prst="roundRect">
            <a:avLst/>
          </a:prstGeom>
          <a:solidFill>
            <a:srgbClr val="FAFCFB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846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Marketing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4846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11CC9A"/>
                </a:solidFill>
                <a:latin typeface="Verdana"/>
              </a:defRPr>
            </a:pPr>
            <a:r>
              <a:t>[Vantagem Keeta]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846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[Comparação 99]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669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Ferramentas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5669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11CC9A"/>
                </a:solidFill>
                <a:latin typeface="Verdana"/>
              </a:defRPr>
            </a:pPr>
            <a:r>
              <a:t>[Vantagem Keeta]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5669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[Comparação 99]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Nossa Proposta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Estratégia de defesa — o que Keeta oferece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914400"/>
            <a:ext cx="3657600" cy="43891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914400"/>
            <a:ext cx="3657600" cy="54864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191919"/>
                </a:solidFill>
                <a:latin typeface="Verdana"/>
              </a:defRPr>
            </a:pPr>
            <a:r>
              <a:t>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459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91919"/>
                </a:solidFill>
                <a:latin typeface="Verdana"/>
              </a:defRPr>
            </a:pPr>
            <a:r>
              <a:t>Pacote Promocional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0312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[Plano promocional específico]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914400"/>
            <a:ext cx="3657600" cy="43891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914400"/>
            <a:ext cx="3657600" cy="54864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0972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191919"/>
                </a:solidFill>
                <a:latin typeface="Verdana"/>
              </a:defRPr>
            </a:pPr>
            <a:r>
              <a:t>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16459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91919"/>
                </a:solidFill>
                <a:latin typeface="Verdana"/>
              </a:defRPr>
            </a:pPr>
            <a:r>
              <a:t>Incentivo Exclusivo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10312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[Termos especiais: bônus, cashback]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914400"/>
            <a:ext cx="3657600" cy="43891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914400"/>
            <a:ext cx="3657600" cy="54864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10972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191919"/>
                </a:solidFill>
                <a:latin typeface="Verdana"/>
              </a:defRPr>
            </a:pPr>
            <a:r>
              <a:t>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16459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91919"/>
                </a:solidFill>
                <a:latin typeface="Verdana"/>
              </a:defRPr>
            </a:pPr>
            <a:r>
              <a:t>Plano de Crescimento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10312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[Boost de tráfego, prioridade, marketing]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55778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1">
                <a:solidFill>
                  <a:srgbClr val="191919"/>
                </a:solidFill>
                <a:latin typeface="Verdana"/>
              </a:defRPr>
            </a:pPr>
            <a:r>
              <a:t>Investimento Total: R$ [---]  →  Retorno Esperado: R$ [---]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Ações Recomendadas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Ações prioritárias com responsáveis e prazos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" y="960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9844" y="960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Responsável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8724" y="960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Prazo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3828" y="960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234440"/>
            <a:ext cx="11521440" cy="27432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0040" y="1417320"/>
            <a:ext cx="11521440" cy="822960"/>
          </a:xfrm>
          <a:prstGeom prst="roundRect">
            <a:avLst/>
          </a:prstGeom>
          <a:solidFill>
            <a:srgbClr val="FAFCFB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600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🕐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16002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[Action 1]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600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[Owner]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600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[Date]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16002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5146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🕐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25146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[Action 2]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514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[Owner]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514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[Date]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25146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" y="3246120"/>
            <a:ext cx="11521440" cy="822960"/>
          </a:xfrm>
          <a:prstGeom prst="roundRect">
            <a:avLst/>
          </a:prstGeom>
          <a:solidFill>
            <a:srgbClr val="FAFCFB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4290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🕐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4290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[Action 3]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3429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[Owner]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[Date]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34290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3434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🕐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343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[Action 4]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4343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[Owner]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343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[Date]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43434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0040" y="5074920"/>
            <a:ext cx="11521440" cy="822960"/>
          </a:xfrm>
          <a:prstGeom prst="roundRect">
            <a:avLst/>
          </a:prstGeom>
          <a:solidFill>
            <a:srgbClr val="FAFCFB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2578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🕐 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2578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[Action 5]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5257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[Owner]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5257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[Date]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2720" y="52578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" y="6217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1">
                <a:solidFill>
                  <a:srgbClr val="191919"/>
                </a:solidFill>
                <a:latin typeface="Verdana"/>
              </a:defRPr>
            </a:pPr>
            <a:r>
              <a:t>Próxima Revisão: [---]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Conclusão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371600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11CC9A"/>
                </a:solidFill>
                <a:latin typeface="Verdana"/>
              </a:defRPr>
            </a:pPr>
            <a:r>
              <a:t>Mantenha Multi-Plataforma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28600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666666"/>
                </a:solidFill>
                <a:latin typeface="Verdana"/>
              </a:defRPr>
            </a:pPr>
            <a:r>
              <a:t>Os números falam claramente: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926080"/>
            <a:ext cx="3200400" cy="201168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3108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Receita/mês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566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1">
                <a:solidFill>
                  <a:srgbClr val="11CC9A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2926080"/>
            <a:ext cx="3200400" cy="201168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0" y="3108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Total 2 Anos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3566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1">
                <a:solidFill>
                  <a:srgbClr val="11CC9A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926080"/>
            <a:ext cx="3200400" cy="2011680"/>
          </a:xfrm>
          <a:prstGeom prst="roundRect">
            <a:avLst/>
          </a:prstGeom>
          <a:solidFill>
            <a:srgbClr val="FF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3108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62828"/>
                </a:solidFill>
                <a:latin typeface="Verdana"/>
              </a:defRPr>
            </a:pPr>
            <a:r>
              <a:t>Perda se Exclusivo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566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1">
                <a:solidFill>
                  <a:srgbClr val="C62828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530352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191919"/>
                </a:solidFill>
                <a:latin typeface="Verdana"/>
              </a:defRPr>
            </a:pPr>
            <a:r>
              <a:t>Sua trajetória de crescimento + suporte Keeta = mais fortes juntos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457200"/>
            <a:ext cx="1554480" cy="8412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1828800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191919"/>
                </a:solidFill>
                <a:latin typeface="Verdana"/>
              </a:defRPr>
            </a:pPr>
            <a:r>
              <a:t>OBRIGADO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74320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666666"/>
                </a:solidFill>
                <a:latin typeface="Verdana"/>
              </a:defRPr>
            </a:pPr>
            <a:r>
              <a:t>Keeta Operações de Comerciantes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47472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666666"/>
                </a:solidFill>
                <a:latin typeface="Verdana"/>
              </a:defRPr>
            </a:pPr>
            <a:r>
              <a:t>Dúvidas? Contate seu BD: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4023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Name / Nome: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023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[BD Name]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4434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Phone / Tel: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434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[+55 XX XXXXX-XXXX]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4846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Email: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[name@keeta.com]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5257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Next Visit / Próxima Visita: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257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[Date]</a:t>
            </a:r>
          </a:p>
        </p:txBody>
      </p:sp>
      <p:pic>
        <p:nvPicPr>
          <p:cNvPr id="15" name="Picture 14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4754880"/>
            <a:ext cx="1645920" cy="1920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