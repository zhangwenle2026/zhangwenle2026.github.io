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16" y="192024"/>
            <a:ext cx="886968" cy="466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097280"/>
            <a:ext cx="5486400" cy="34747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900" b="0">
                <a:solidFill>
                  <a:srgbClr val="888888"/>
                </a:solidFill>
                <a:latin typeface="Verdana"/>
              </a:rPr>
              <a:t>KEETA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5943600" cy="1463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Verdana"/>
              </a:rPr>
              <a:t>Merchant Operations</a:t>
            </a:r>
          </a:p>
          <a:p>
            <a:r>
              <a:rPr sz="3400" b="1">
                <a:solidFill>
                  <a:srgbClr val="FFFFFF"/>
                </a:solidFill>
                <a:latin typeface="Verdana"/>
              </a:rPr>
              <a:t>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5943600" cy="4572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600" b="0">
                <a:solidFill>
                  <a:srgbClr val="FFE41F"/>
                </a:solidFill>
                <a:latin typeface="Verdana"/>
              </a:rPr>
              <a:t>Survive Kit — Defense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931920"/>
            <a:ext cx="4572000" cy="36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114800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Store ID: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[Enter Store ID]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90288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Merchant: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590288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[Merchant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065776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065776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[Month/2026]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541264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BDM: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541264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[BDM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AVG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06040"/>
            <a:ext cx="539496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Business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[Growth highlight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690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[Growth highlight 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[Growth highlight 3]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2606040"/>
            <a:ext cx="539496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2606040"/>
            <a:ext cx="53949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6974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Key Risks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004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[Key risk 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0690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[Key risk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9377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[Key risk 3]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Business Growth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14400"/>
            <a:ext cx="11612880" cy="480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01752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Verdana"/>
              </a:rPr>
              <a:t>[ Insert trend chart — GMV / Orders / AOV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806440"/>
            <a:ext cx="201168" cy="20116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GMV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5806440"/>
            <a:ext cx="201168" cy="201168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806440"/>
            <a:ext cx="201168" cy="201168"/>
          </a:xfrm>
          <a:prstGeom prst="rect">
            <a:avLst/>
          </a:prstGeom>
          <a:solidFill>
            <a:srgbClr val="44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GMV Formula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" y="8046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Verdana"/>
              </a:rPr>
              <a:t>Understanding what drives your 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Visitors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[Insert value]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prior]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Conversion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[Insert value]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prior]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AOV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[Insert value]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prior]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CC9A"/>
                </a:solidFill>
                <a:latin typeface="Verdana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CC9A"/>
                </a:solidFill>
                <a:latin typeface="Verdana"/>
              </a:rPr>
              <a:t>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4069080"/>
            <a:ext cx="4572000" cy="82296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0690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Verdana"/>
              </a:rPr>
              <a:t>= GMV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172200"/>
            <a:ext cx="11612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Verdana"/>
              </a:rPr>
              <a:t>GMV = platform revenue before subsidies · Source: Keeta Merchant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Promotion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TOTAL PROMO EXPENSE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PROMO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[X]x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PROMO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Promo Item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Order Count: 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Total Cost: 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Efficiency: [High/Med/Low]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6908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Discount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Order Count: [---]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Total Cost: R$ 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Efficiency: [High/Med/Low]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Coupon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Order Count: 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Total Cost: R$ 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Efficiency: [High/Med/Low]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285232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Verdana"/>
              </a:rPr>
              <a:t>💡 Promo Item typically delivers the highest order volume per R$ invested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Service Quality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Daily Downtime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762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Cancellation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21762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86868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Avg Prep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1762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Order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908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880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Customer 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880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Mark-Ready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784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14476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E41F"/>
                </a:solidFill>
                <a:latin typeface="Verdana"/>
              </a:rPr>
              <a:t>⚠️  Highlight critical areas that need immediate attention before presenting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Customer Analysis — Last 30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TOTAL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NEW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RETURNING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11521440" cy="33375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1152144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8404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Verdana"/>
              </a:rPr>
              <a:t>[ Insert customer segmentation chart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897880"/>
            <a:ext cx="11521440" cy="658368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897880"/>
            <a:ext cx="73152" cy="65836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96188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Verdana"/>
              </a:rPr>
              <a:t>Key Insight: [Describe new vs returning mix and what it means for loyalty strategy]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99Food Threat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Exclusive 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3]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Impact on Merchant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BD 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66360"/>
            <a:ext cx="1152144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166360"/>
            <a:ext cx="73152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3036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Verdana"/>
              </a:rPr>
              <a:t>⚠️  Threat level: [ HIGH / MEDIUM / LOW ]  —  Source: [BD observation, date]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The 99Food Offer — What They're Proposing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02920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875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99 EXCLUSIVITY 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CASH (one-time): R$ [Amount]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GUARANTEED GMV/YEAR: R$ 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CONTRACT DURATION: [X]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PENALTY FOR BREACH: [Describe]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914400"/>
            <a:ext cx="621792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914400"/>
            <a:ext cx="621792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9875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What You Give Up: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50876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53619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[Keeta revenue — primary platform]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51460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54203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[Flexibility to negotiate]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352044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54787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[iFood traffic]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669280"/>
            <a:ext cx="11521440" cy="475488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669280"/>
            <a:ext cx="73152" cy="475488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733288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Verdana"/>
              </a:rPr>
              <a:t>⚠️  The upfront payment represents only [X] months of your current Keeta 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Revenue Impact — The Math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029200" cy="4297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875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Verdana"/>
              </a:rPr>
              <a:t>ACCEPT 99 EXCLUSIVITY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Revenue (2 years): R$ [X]M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21992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Upfront bonus: R$ [X]K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TOTAL: R$ [X]M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603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55555"/>
                </a:solidFill>
                <a:latin typeface="Verdana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914400"/>
            <a:ext cx="5303520" cy="4297680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914400"/>
            <a:ext cx="530352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98755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CC9A"/>
                </a:solidFill>
                <a:latin typeface="Verdana"/>
              </a:rPr>
              <a:t>STAY MULTI-PLATFORM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0876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Keeta (2 years): R$ [X]M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2199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99Food (2 years): R$ [X]M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35224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iFood (2 years): R$ [X]M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648456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TOTAL: R$ [X]M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21440" cy="5943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111556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MINIMUM LOSS: R$ [X]M over 2 years by accepting exclusivity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108192"/>
            <a:ext cx="11521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Verdana"/>
              </a:rPr>
              <a:t>Conservative scenario — does not account for Keeta's historical monthly growth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2-Year Contract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96112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96112"/>
            <a:ext cx="1152144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60704"/>
            <a:ext cx="502920" cy="5029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607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95097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Platform Abandonment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335024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99Food previously exited Brazil (2023). If it happens again, you lose both Keeta AND 99Food — locked.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74520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874520"/>
            <a:ext cx="11521440" cy="36576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039112"/>
            <a:ext cx="502920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391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92938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GMV Guarantee Not Honored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31343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[Describe cases where guarantees were not fulfilled and legal recourse options]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52928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52928"/>
            <a:ext cx="11521440" cy="36576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90779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CADE Antitrust Investigation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9184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Exclusive contracts are under regulatory scrutiny in Brazil — legal risk for the merchant.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31336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31336"/>
            <a:ext cx="1152144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995928"/>
            <a:ext cx="5029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959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88620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Negotiation Leverage Lost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7024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Once exclusive, you lose the ability to negotiate better terms with any platform.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09744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809744"/>
            <a:ext cx="1152144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974336"/>
            <a:ext cx="5029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9743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86460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Growth Cap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248656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Your GMV is locked to 99Food's growth, not your own trajectory — missing Keeta's acceleration.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Merchant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🍽️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Avg Order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Operating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78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64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Keeta Ranking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Competitive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3840480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Criterion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914400"/>
            <a:ext cx="3840480" cy="7132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Keeta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914400"/>
            <a:ext cx="3840480" cy="713232"/>
          </a:xfrm>
          <a:prstGeom prst="rect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99Food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Commission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[X]%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[X]%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Promotion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Visibility / Traffic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Merchant 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072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Exclusive Incentive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[Value]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072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[Value]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330952"/>
            <a:ext cx="11521440" cy="502920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330952"/>
            <a:ext cx="73152" cy="5029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404104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CC9A"/>
                </a:solidFill>
                <a:latin typeface="Verdana"/>
              </a:rPr>
              <a:t>✅  Keeta Advantage: [Highlight the key competitive differentiator for this merchant]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Our Proposal — Defense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🎯  Promotion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[Action detail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77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[Action detail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8094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[Action detail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[Action detail 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868680"/>
            <a:ext cx="356616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868680"/>
            <a:ext cx="3566160" cy="54864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⭐  Exclusive Incentive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55448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[Action detail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2677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[Action detail 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98094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[Action detail 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69417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[Action detail 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868680"/>
            <a:ext cx="356616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868680"/>
            <a:ext cx="3566160" cy="54864"/>
          </a:xfrm>
          <a:prstGeom prst="rect">
            <a:avLst/>
          </a:prstGeom>
          <a:solidFill>
            <a:srgbClr val="44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📈  Growth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155448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[Action detail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2677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[Action detail 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98094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[Action detail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69417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[Action detail 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5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nvGrpSpPr>
        <cNvPr id="1" name=""/>
        <cNvGrpSpPr/>
        <nvPr/>
      </nvGrpSpPr>
      <grpSpPr/>
      <sp>
        <nvSpPr>
          <cNvPr id="2" name="Title 1"/>
          <cNvSpPr>
            <a:spLocks noGrp="1"/>
          </cNvSpPr>
          <nvPr>
            <ph type="title"/>
          </nvPr>
        </nvSpPr>
        <spPr/>
        <txBody>
          <a:bodyPr/>
          <a:lstStyle/>
          <a:p/>
        </txBody>
      </sp>
      <sp>
        <nvSpPr>
          <cNvPr id="3" name="Content Placeholder 2"/>
          <cNvSpPr>
            <a:spLocks noGrp="1"/>
          </cNvSpPr>
          <nvPr>
            <ph idx="1"/>
          </nvPr>
        </nvSpPr>
        <spPr/>
        <txBody>
          <a:bodyPr/>
          <a:lstStyle/>
          <a:p/>
        </txBody>
      </sp>
      <sp>
        <nvSpPr>
          <cNvPr id="4" name="Rectangle 3"/>
          <cNvSpPr/>
          <nvPr/>
        </nvSpPr>
        <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5" name="TextBox 4"/>
          <cNvSpPr txBox="1"/>
          <nvPr/>
        </nvSpPr>
        <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spPr>
        <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Action Recommendations</a:t>
            </a:r>
          </a:p>
        </txBody>
      </sp>
      <sp>
        <nvSpPr>
          <cNvPr id="6" name="Rectangle 5"/>
          <cNvSpPr/>
          <nvPr/>
        </nvSpPr>
        <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pic>
        <nvPicPr>
          <cNvPr id="7" name="Picture 6" descr="image3.png"/>
          <cNvPicPr>
            <a:picLocks noChangeAspect="1"/>
          </cNvPicPr>
          <nvPr/>
        </nvPicPr>
        <blipFill>
          <a:blip r:embed="rId2"/>
          <a:stretch>
            <a:fillRect/>
          </a:stretch>
        </blipFill>
        <spPr>
          <a:xfrm>
            <a:off x="10908792" y="137160"/>
            <a:ext cx="1005840" cy="539496"/>
          </a:xfrm>
          <a:prstGeom prst="rect">
            <a:avLst/>
          </a:prstGeom>
        </spPr>
      </pic>
      <sp>
        <nvSpPr>
          <cNvPr id="8" name="Rectangle 7"/>
          <cNvSpPr/>
          <nvPr/>
        </nvSpPr>
        <spPr>
          <a:xfrm>
            <a:off x="320040" y="914400"/>
            <a:ext cx="5303520" cy="749808"/>
          </a:xfrm>
          <a:prstGeom prst="rect">
            <a:avLst/>
          </a:prstGeom>
          <a:solidFill>
            <a:srgbClr val="11CC9A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9" name="TextBox 8"/>
          <cNvSpPr txBox="1"/>
          <nvPr/>
        </nvSpPr>
        <spPr>
          <a:xfrm>
            <a:off x="411480" y="914400"/>
            <a:ext cx="512064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Action</a:t>
            </a:r>
          </a:p>
        </txBody>
      </sp>
      <sp>
        <nvSpPr>
          <cNvPr id="10" name="Rectangle 9"/>
          <cNvSpPr/>
          <nvPr/>
        </nvSpPr>
        <spPr>
          <a:xfrm>
            <a:off x="5623560" y="914400"/>
            <a:ext cx="2377440" cy="749808"/>
          </a:xfrm>
          <a:prstGeom prst="rect">
            <a:avLst/>
          </a:prstGeom>
          <a:solidFill>
            <a:srgbClr val="11CC9A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11" name="TextBox 10"/>
          <cNvSpPr txBox="1"/>
          <nvPr/>
        </nvSpPr>
        <spPr>
          <a:xfrm>
            <a:off x="5715000" y="914400"/>
            <a:ext cx="21945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Owner</a:t>
            </a:r>
          </a:p>
        </txBody>
      </sp>
      <sp>
        <nvSpPr>
          <cNvPr id="12" name="Rectangle 11"/>
          <cNvSpPr/>
          <nvPr/>
        </nvSpPr>
        <spPr>
          <a:xfrm>
            <a:off x="8001000" y="914400"/>
            <a:ext cx="2011680" cy="749808"/>
          </a:xfrm>
          <a:prstGeom prst="rect">
            <a:avLst/>
          </a:prstGeom>
          <a:solidFill>
            <a:srgbClr val="11CC9A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13" name="TextBox 12"/>
          <cNvSpPr txBox="1"/>
          <nvPr/>
        </nvSpPr>
        <spPr>
          <a:xfrm>
            <a:off x="8092440" y="914400"/>
            <a:ext cx="182880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Deadline</a:t>
            </a:r>
          </a:p>
        </txBody>
      </sp>
      <sp>
        <nvSpPr>
          <cNvPr id="14" name="Rectangle 13"/>
          <cNvSpPr/>
          <nvPr/>
        </nvSpPr>
        <spPr>
          <a:xfrm>
            <a:off x="10012680" y="914400"/>
            <a:ext cx="1691640" cy="749808"/>
          </a:xfrm>
          <a:prstGeom prst="rect">
            <a:avLst/>
          </a:prstGeom>
          <a:solidFill>
            <a:srgbClr val="11CC9A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15" name="TextBox 14"/>
          <cNvSpPr txBox="1"/>
          <nvPr/>
        </nvSpPr>
        <spPr>
          <a:xfrm>
            <a:off x="10104120" y="914400"/>
            <a:ext cx="15087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Status</a:t>
            </a:r>
          </a:p>
        </txBody>
      </sp>
      <sp>
        <nvSpPr>
          <cNvPr id="16" name="Rectangle 15"/>
          <cNvSpPr/>
          <nvPr/>
        </nvSpPr>
        <spPr>
          <a:xfrm>
            <a:off x="320040" y="1664208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17" name="TextBox 16"/>
          <cNvSpPr txBox="1"/>
          <nvPr/>
        </nvSpPr>
        <spPr>
          <a:xfrm>
            <a:off x="411480" y="1664208"/>
            <a:ext cx="512064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1]</a:t>
            </a:r>
          </a:p>
        </txBody>
      </sp>
      <sp>
        <nvSpPr>
          <cNvPr id="18" name="Rectangle 17"/>
          <cNvSpPr/>
          <nvPr/>
        </nvSpPr>
        <spPr>
          <a:xfrm>
            <a:off x="5623560" y="1664208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19" name="TextBox 18"/>
          <cNvSpPr txBox="1"/>
          <nvPr/>
        </nvSpPr>
        <spPr>
          <a:xfrm>
            <a:off x="5715000" y="1664208"/>
            <a:ext cx="21945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txBody>
      </sp>
      <sp>
        <nvSpPr>
          <cNvPr id="20" name="Rectangle 19"/>
          <cNvSpPr/>
          <nvPr/>
        </nvSpPr>
        <spPr>
          <a:xfrm>
            <a:off x="8001000" y="1664208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21" name="TextBox 20"/>
          <cNvSpPr txBox="1"/>
          <nvPr/>
        </nvSpPr>
        <spPr>
          <a:xfrm>
            <a:off x="8092440" y="1664208"/>
            <a:ext cx="182880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txBody>
      </sp>
      <sp>
        <nvSpPr>
          <cNvPr id="22" name="Rectangle 21"/>
          <cNvSpPr/>
          <nvPr/>
        </nvSpPr>
        <spPr>
          <a:xfrm>
            <a:off x="10012680" y="1664208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23" name="TextBox 22"/>
          <cNvSpPr txBox="1"/>
          <nvPr/>
        </nvSpPr>
        <spPr>
          <a:xfrm>
            <a:off x="10104120" y="1664208"/>
            <a:ext cx="15087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txBody>
      </sp>
      <sp>
        <nvSpPr>
          <cNvPr id="24" name="Rectangle 23"/>
          <cNvSpPr/>
          <nvPr/>
        </nvSpPr>
        <spPr>
          <a:xfrm>
            <a:off x="320040" y="2414016"/>
            <a:ext cx="530352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25" name="TextBox 24"/>
          <cNvSpPr txBox="1"/>
          <nvPr/>
        </nvSpPr>
        <spPr>
          <a:xfrm>
            <a:off x="411480" y="2414016"/>
            <a:ext cx="512064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2]</a:t>
            </a:r>
          </a:p>
        </txBody>
      </sp>
      <sp>
        <nvSpPr>
          <cNvPr id="26" name="Rectangle 25"/>
          <cNvSpPr/>
          <nvPr/>
        </nvSpPr>
        <spPr>
          <a:xfrm>
            <a:off x="5623560" y="2414016"/>
            <a:ext cx="23774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27" name="TextBox 26"/>
          <cNvSpPr txBox="1"/>
          <nvPr/>
        </nvSpPr>
        <spPr>
          <a:xfrm>
            <a:off x="5715000" y="2414016"/>
            <a:ext cx="21945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txBody>
      </sp>
      <sp>
        <nvSpPr>
          <cNvPr id="28" name="Rectangle 27"/>
          <cNvSpPr/>
          <nvPr/>
        </nvSpPr>
        <spPr>
          <a:xfrm>
            <a:off x="8001000" y="2414016"/>
            <a:ext cx="201168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29" name="TextBox 28"/>
          <cNvSpPr txBox="1"/>
          <nvPr/>
        </nvSpPr>
        <spPr>
          <a:xfrm>
            <a:off x="8092440" y="2414016"/>
            <a:ext cx="182880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txBody>
      </sp>
      <sp>
        <nvSpPr>
          <cNvPr id="30" name="Rectangle 29"/>
          <cNvSpPr/>
          <nvPr/>
        </nvSpPr>
        <spPr>
          <a:xfrm>
            <a:off x="10012680" y="2414016"/>
            <a:ext cx="16916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31" name="TextBox 30"/>
          <cNvSpPr txBox="1"/>
          <nvPr/>
        </nvSpPr>
        <spPr>
          <a:xfrm>
            <a:off x="10104120" y="2414016"/>
            <a:ext cx="15087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txBody>
      </sp>
      <sp>
        <nvSpPr>
          <cNvPr id="32" name="Rectangle 31"/>
          <cNvSpPr/>
          <nvPr/>
        </nvSpPr>
        <spPr>
          <a:xfrm>
            <a:off x="320040" y="3163824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33" name="TextBox 32"/>
          <cNvSpPr txBox="1"/>
          <nvPr/>
        </nvSpPr>
        <spPr>
          <a:xfrm>
            <a:off x="411480" y="3163824"/>
            <a:ext cx="512064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3]</a:t>
            </a:r>
          </a:p>
        </txBody>
      </sp>
      <sp>
        <nvSpPr>
          <cNvPr id="34" name="Rectangle 33"/>
          <cNvSpPr/>
          <nvPr/>
        </nvSpPr>
        <spPr>
          <a:xfrm>
            <a:off x="5623560" y="3163824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35" name="TextBox 34"/>
          <cNvSpPr txBox="1"/>
          <nvPr/>
        </nvSpPr>
        <spPr>
          <a:xfrm>
            <a:off x="5715000" y="3163824"/>
            <a:ext cx="21945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txBody>
      </sp>
      <sp>
        <nvSpPr>
          <cNvPr id="36" name="Rectangle 35"/>
          <cNvSpPr/>
          <nvPr/>
        </nvSpPr>
        <spPr>
          <a:xfrm>
            <a:off x="8001000" y="3163824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37" name="TextBox 36"/>
          <cNvSpPr txBox="1"/>
          <nvPr/>
        </nvSpPr>
        <spPr>
          <a:xfrm>
            <a:off x="8092440" y="3163824"/>
            <a:ext cx="182880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txBody>
      </sp>
      <sp>
        <nvSpPr>
          <cNvPr id="38" name="Rectangle 37"/>
          <cNvSpPr/>
          <nvPr/>
        </nvSpPr>
        <spPr>
          <a:xfrm>
            <a:off x="10012680" y="3163824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39" name="TextBox 38"/>
          <cNvSpPr txBox="1"/>
          <nvPr/>
        </nvSpPr>
        <spPr>
          <a:xfrm>
            <a:off x="10104120" y="3163824"/>
            <a:ext cx="15087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txBody>
      </sp>
      <sp>
        <nvSpPr>
          <cNvPr id="40" name="Rectangle 39"/>
          <cNvSpPr/>
          <nvPr/>
        </nvSpPr>
        <spPr>
          <a:xfrm>
            <a:off x="320040" y="3913632"/>
            <a:ext cx="530352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41" name="TextBox 40"/>
          <cNvSpPr txBox="1"/>
          <nvPr/>
        </nvSpPr>
        <spPr>
          <a:xfrm>
            <a:off x="411480" y="3913632"/>
            <a:ext cx="512064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4]</a:t>
            </a:r>
          </a:p>
        </txBody>
      </sp>
      <sp>
        <nvSpPr>
          <cNvPr id="42" name="Rectangle 41"/>
          <cNvSpPr/>
          <nvPr/>
        </nvSpPr>
        <spPr>
          <a:xfrm>
            <a:off x="5623560" y="3913632"/>
            <a:ext cx="23774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43" name="TextBox 42"/>
          <cNvSpPr txBox="1"/>
          <nvPr/>
        </nvSpPr>
        <spPr>
          <a:xfrm>
            <a:off x="5715000" y="3913632"/>
            <a:ext cx="21945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txBody>
      </sp>
      <sp>
        <nvSpPr>
          <cNvPr id="44" name="Rectangle 43"/>
          <cNvSpPr/>
          <nvPr/>
        </nvSpPr>
        <spPr>
          <a:xfrm>
            <a:off x="8001000" y="3913632"/>
            <a:ext cx="201168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45" name="TextBox 44"/>
          <cNvSpPr txBox="1"/>
          <nvPr/>
        </nvSpPr>
        <spPr>
          <a:xfrm>
            <a:off x="8092440" y="3913632"/>
            <a:ext cx="182880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txBody>
      </sp>
      <sp>
        <nvSpPr>
          <cNvPr id="46" name="Rectangle 45"/>
          <cNvSpPr/>
          <nvPr/>
        </nvSpPr>
        <spPr>
          <a:xfrm>
            <a:off x="10012680" y="3913632"/>
            <a:ext cx="16916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47" name="TextBox 46"/>
          <cNvSpPr txBox="1"/>
          <nvPr/>
        </nvSpPr>
        <spPr>
          <a:xfrm>
            <a:off x="10104120" y="3913632"/>
            <a:ext cx="15087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txBody>
      </sp>
      <sp>
        <nvSpPr>
          <cNvPr id="48" name="Rectangle 47"/>
          <cNvSpPr/>
          <nvPr/>
        </nvSpPr>
        <spPr>
          <a:xfrm>
            <a:off x="320040" y="4663440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49" name="TextBox 48"/>
          <cNvSpPr txBox="1"/>
          <nvPr/>
        </nvSpPr>
        <spPr>
          <a:xfrm>
            <a:off x="411480" y="4663440"/>
            <a:ext cx="512064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5]</a:t>
            </a:r>
          </a:p>
        </txBody>
      </sp>
      <sp>
        <nvSpPr>
          <cNvPr id="50" name="Rectangle 49"/>
          <cNvSpPr/>
          <nvPr/>
        </nvSpPr>
        <spPr>
          <a:xfrm>
            <a:off x="5623560" y="4663440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51" name="TextBox 50"/>
          <cNvSpPr txBox="1"/>
          <nvPr/>
        </nvSpPr>
        <spPr>
          <a:xfrm>
            <a:off x="5715000" y="4663440"/>
            <a:ext cx="21945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txBody>
      </sp>
      <sp>
        <nvSpPr>
          <cNvPr id="52" name="Rectangle 51"/>
          <cNvSpPr/>
          <nvPr/>
        </nvSpPr>
        <spPr>
          <a:xfrm>
            <a:off x="8001000" y="466344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53" name="TextBox 52"/>
          <cNvSpPr txBox="1"/>
          <nvPr/>
        </nvSpPr>
        <spPr>
          <a:xfrm>
            <a:off x="8092440" y="4663440"/>
            <a:ext cx="182880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txBody>
      </sp>
      <sp>
        <nvSpPr>
          <cNvPr id="54" name="Rectangle 53"/>
          <cNvSpPr/>
          <nvPr/>
        </nvSpPr>
        <spPr>
          <a:xfrm>
            <a:off x="10012680" y="4663440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55" name="TextBox 54"/>
          <cNvSpPr txBox="1"/>
          <nvPr/>
        </nvSpPr>
        <spPr>
          <a:xfrm>
            <a:off x="10104120" y="4663440"/>
            <a:ext cx="1508760" cy="749808"/>
          </a:xfrm>
          <a:prstGeom prst="rect">
            <a:avLst/>
          </a:prstGeom>
          <a:noFill/>
          <a:ln>
            <a:noFill/>
          </a:ln>
        </spPr>
        <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txBody>
      </sp>
      <sp>
        <nvSpPr>
          <cNvPr id="57" name="TextBox 56"/>
          <cNvSpPr txBox="1"/>
          <nvPr/>
        </nvSpPr>
        <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spPr>
        <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txBody>
      </sp>
    </spTree>
  </cSld>
  <clrMapOvr>
    <a:masterClrMapping/>
  </clrMapOvr>
</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