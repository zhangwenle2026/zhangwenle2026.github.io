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9" r:id="rId5"/>
    <p:sldId id="266" r:id="rId6"/>
    <p:sldId id="265" r:id="rId7"/>
    <p:sldId id="267" r:id="rId8"/>
    <p:sldId id="268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C27"/>
    <a:srgbClr val="F66A04"/>
    <a:srgbClr val="F8F8F8"/>
    <a:srgbClr val="E22459"/>
    <a:srgbClr val="FFE800"/>
    <a:srgbClr val="CA9A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84"/>
    <p:restoredTop sz="94694"/>
  </p:normalViewPr>
  <p:slideViewPr>
    <p:cSldViewPr snapToGrid="0">
      <p:cViewPr varScale="1">
        <p:scale>
          <a:sx n="121" d="100"/>
          <a:sy n="121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6F8FD-C8BD-8A49-B81E-9ABA4B70F14A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673D9-DFF2-FC42-94D7-B3D20AF2BBA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73D9-DFF2-FC42-94D7-B3D20AF2BBAE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73D9-DFF2-FC42-94D7-B3D20AF2BBAE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73D9-DFF2-FC42-94D7-B3D20AF2BBAE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7445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61FF0-C524-8346-99FB-47CCE945C7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3764E-6FDC-284E-9BEC-88E973891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909390"/>
            <a:ext cx="12192000" cy="2948609"/>
          </a:xfrm>
          <a:prstGeom prst="rect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020396" y="2320257"/>
            <a:ext cx="43913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Advertising</a:t>
            </a:r>
            <a:endParaRPr kumimoji="1" lang="zh-CN" altLang="en-US" sz="4400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20396" y="3089698"/>
            <a:ext cx="5698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Boost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your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restaurant ranking and draw in more customers</a:t>
            </a:r>
            <a:endParaRPr lang="zh-CN" altLang="en-US" dirty="0">
              <a:effectLst/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20465" y="491884"/>
            <a:ext cx="3437640" cy="66229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20396" y="4228471"/>
            <a:ext cx="62066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i="1" dirty="0">
                <a:solidFill>
                  <a:srgbClr val="CA9A25"/>
                </a:solidFill>
                <a:latin typeface="Franklin Gothic Medium" panose="020B0603020102020204" pitchFamily="34" charset="0"/>
                <a:ea typeface="meituan type" panose="02000500000000000000" pitchFamily="2" charset="-122"/>
              </a:rPr>
              <a:t>Boost</a:t>
            </a:r>
            <a:r>
              <a:rPr kumimoji="1" lang="zh-CN" altLang="en-US" sz="4000" b="1" i="1" dirty="0">
                <a:solidFill>
                  <a:srgbClr val="CA9A25"/>
                </a:solidFill>
                <a:latin typeface="Franklin Gothic Medium" panose="020B0603020102020204" pitchFamily="34" charset="0"/>
                <a:ea typeface="meituan type" panose="02000500000000000000" pitchFamily="2" charset="-122"/>
              </a:rPr>
              <a:t> </a:t>
            </a:r>
            <a:r>
              <a:rPr kumimoji="1" lang="en-US" altLang="zh-CN" sz="4000" b="1" i="1" dirty="0">
                <a:solidFill>
                  <a:srgbClr val="CA9A25"/>
                </a:solidFill>
                <a:latin typeface="Franklin Gothic Medium" panose="020B0603020102020204" pitchFamily="34" charset="0"/>
                <a:ea typeface="meituan type" panose="02000500000000000000" pitchFamily="2" charset="-122"/>
              </a:rPr>
              <a:t>Restaurant</a:t>
            </a:r>
            <a:r>
              <a:rPr kumimoji="1" lang="zh-CN" altLang="en-US" sz="4000" b="1" i="1" dirty="0">
                <a:solidFill>
                  <a:srgbClr val="CA9A25"/>
                </a:solidFill>
                <a:latin typeface="Franklin Gothic Medium" panose="020B0603020102020204" pitchFamily="34" charset="0"/>
                <a:ea typeface="meituan type" panose="02000500000000000000" pitchFamily="2" charset="-122"/>
              </a:rPr>
              <a:t> </a:t>
            </a:r>
            <a:r>
              <a:rPr kumimoji="1" lang="en-US" altLang="zh-CN" sz="4000" b="1" i="1" dirty="0">
                <a:solidFill>
                  <a:srgbClr val="CA9A25"/>
                </a:solidFill>
                <a:latin typeface="Franklin Gothic Medium" panose="020B0603020102020204" pitchFamily="34" charset="0"/>
                <a:ea typeface="meituan type" panose="02000500000000000000" pitchFamily="2" charset="-122"/>
              </a:rPr>
              <a:t>Visibility</a:t>
            </a:r>
            <a:endParaRPr kumimoji="1" lang="zh-CN" altLang="en-US" sz="4000" b="1" i="1" dirty="0">
              <a:solidFill>
                <a:srgbClr val="CA9A25"/>
              </a:solidFill>
              <a:latin typeface="Franklin Gothic Medium" panose="020B0603020102020204" pitchFamily="34" charset="0"/>
              <a:ea typeface="meituan type" panose="020005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/>
          <a:srcRect b="58100"/>
          <a:stretch>
            <a:fillRect/>
          </a:stretch>
        </p:blipFill>
        <p:spPr>
          <a:xfrm>
            <a:off x="983292" y="491884"/>
            <a:ext cx="3627568" cy="6377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14">
            <a:extLst>
              <a:ext uri="{FF2B5EF4-FFF2-40B4-BE49-F238E27FC236}">
                <a16:creationId xmlns:a16="http://schemas.microsoft.com/office/drawing/2014/main" id="{85B44A06-225D-38D6-FC1B-4A9F755AA03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69736" y="249079"/>
            <a:ext cx="896368" cy="4856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595086" cy="6858000"/>
          </a:xfrm>
          <a:prstGeom prst="rect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29137" y="889989"/>
            <a:ext cx="20860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Contents</a:t>
            </a:r>
            <a:endParaRPr lang="zh-CN" altLang="en-US" sz="4000" b="1" dirty="0">
              <a:effectLst/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03418" y="1975979"/>
            <a:ext cx="5823004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2400"/>
              </a:spcAft>
              <a:buAutoNum type="arabicPeriod"/>
            </a:pPr>
            <a:r>
              <a:rPr kumimoji="1"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Advantages of advertising </a:t>
            </a:r>
          </a:p>
          <a:p>
            <a:pPr marL="342900" indent="-342900">
              <a:spcAft>
                <a:spcPts val="2400"/>
              </a:spcAft>
              <a:buAutoNum type="arabicPeriod"/>
            </a:pPr>
            <a:r>
              <a:rPr kumimoji="1"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How</a:t>
            </a:r>
            <a:r>
              <a:rPr kumimoji="1"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do I create an ad campaign?</a:t>
            </a:r>
          </a:p>
          <a:p>
            <a:pPr marL="342900" indent="-342900">
              <a:spcAft>
                <a:spcPts val="2400"/>
              </a:spcAft>
              <a:buAutoNum type="arabicPeriod"/>
            </a:pPr>
            <a:r>
              <a:rPr kumimoji="1"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How do I track my advertising data?</a:t>
            </a:r>
          </a:p>
          <a:p>
            <a:pPr marL="342900" indent="-342900">
              <a:spcAft>
                <a:spcPts val="2400"/>
              </a:spcAft>
              <a:buAutoNum type="arabicPeriod"/>
            </a:pPr>
            <a:r>
              <a:rPr kumimoji="1" lang="en-US" altLang="zh-CN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How do I editing my ad campaign</a:t>
            </a:r>
            <a:r>
              <a:rPr kumimoji="1" lang="zh-TW" altLang="en-US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？</a:t>
            </a:r>
            <a:endParaRPr kumimoji="1" lang="en-US" altLang="zh-CN" sz="2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>
              <a:spcAft>
                <a:spcPts val="2400"/>
              </a:spcAft>
              <a:buAutoNum type="arabicPeriod"/>
            </a:pPr>
            <a:r>
              <a:rPr kumimoji="1" lang="zh-CN" altLang="en-US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TW" sz="2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FAQs</a:t>
            </a:r>
          </a:p>
        </p:txBody>
      </p:sp>
      <p:pic>
        <p:nvPicPr>
          <p:cNvPr id="3" name="图片 14">
            <a:extLst>
              <a:ext uri="{FF2B5EF4-FFF2-40B4-BE49-F238E27FC236}">
                <a16:creationId xmlns:a16="http://schemas.microsoft.com/office/drawing/2014/main" id="{ACDD8C99-E6C4-6A47-773F-FDD3355B577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69736" y="249079"/>
            <a:ext cx="896368" cy="4856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5759290" y="1466859"/>
            <a:ext cx="4485368" cy="145774"/>
          </a:xfrm>
          <a:prstGeom prst="rect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674176" y="980851"/>
            <a:ext cx="26577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Advantages</a:t>
            </a:r>
            <a:endParaRPr lang="zh-CN" altLang="en-US" sz="4000" b="1" dirty="0">
              <a:effectLst/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6484" y="2162417"/>
            <a:ext cx="3984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Boost your restaurant ranking</a:t>
            </a:r>
            <a:endParaRPr kumimoji="1" lang="zh-CN" altLang="en-US" sz="2400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86110" y="5009077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Enjoy hassle-free setup</a:t>
            </a:r>
            <a:endParaRPr kumimoji="1" lang="zh-CN" altLang="en-US" sz="2400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86110" y="3558418"/>
            <a:ext cx="1982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Free exposure</a:t>
            </a:r>
            <a:endParaRPr kumimoji="1" lang="zh-CN" altLang="en-US" sz="2400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2810" y="3380861"/>
            <a:ext cx="4767610" cy="27181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56484" y="4020083"/>
            <a:ext cx="5385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Bring exposure to your </a:t>
            </a:r>
            <a:r>
              <a:rPr lang="en-GB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restaurant for free! Pay only after users have clicked your restaurant.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56484" y="2624082"/>
            <a:ext cx="4901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GB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Display your restaurant in a high-exposure spot to attract more users.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404575" y="5507817"/>
            <a:ext cx="366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/>
            <a:r>
              <a:rPr lang="en-GB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Create an ad campaign in a few clicks</a:t>
            </a:r>
          </a:p>
        </p:txBody>
      </p:sp>
      <p:sp>
        <p:nvSpPr>
          <p:cNvPr id="11" name="椭圆 10"/>
          <p:cNvSpPr/>
          <p:nvPr/>
        </p:nvSpPr>
        <p:spPr>
          <a:xfrm>
            <a:off x="5674176" y="2177856"/>
            <a:ext cx="503582" cy="50358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660924" y="3537728"/>
            <a:ext cx="503582" cy="50358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660924" y="4988119"/>
            <a:ext cx="503582" cy="50358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02846" y="4608861"/>
            <a:ext cx="4126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6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We will boost your restaurant ranking on </a:t>
            </a:r>
            <a:r>
              <a:rPr lang="en-US" altLang="zh-CN" sz="1600" dirty="0" err="1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KeeTa</a:t>
            </a:r>
            <a:r>
              <a:rPr lang="en-US" altLang="zh-CN" sz="160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’s</a:t>
            </a:r>
            <a:r>
              <a:rPr lang="en-US" altLang="zh-CN" sz="16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merchant listings.</a:t>
            </a:r>
            <a:endParaRPr lang="en-US" altLang="zh-CN" sz="1600" dirty="0">
              <a:effectLst/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2194" y="5332512"/>
            <a:ext cx="4287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3535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“For</a:t>
            </a:r>
            <a:r>
              <a:rPr lang="zh-CN" altLang="en-US" sz="1400" dirty="0">
                <a:solidFill>
                  <a:srgbClr val="53535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sz="1400" dirty="0">
                <a:solidFill>
                  <a:srgbClr val="53535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instance, the restaurant ranked 15</a:t>
            </a:r>
            <a:r>
              <a:rPr lang="en-US" altLang="zh-CN" sz="1400" baseline="30000" dirty="0">
                <a:solidFill>
                  <a:srgbClr val="53535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th</a:t>
            </a:r>
            <a:r>
              <a:rPr lang="en-US" altLang="zh-CN" sz="1400" dirty="0">
                <a:solidFill>
                  <a:srgbClr val="53535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can be promoted to the 5th position for display.”</a:t>
            </a:r>
            <a:endParaRPr lang="zh-CN" altLang="en-US" sz="1400" dirty="0">
              <a:solidFill>
                <a:srgbClr val="535353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t="13818"/>
          <a:stretch>
            <a:fillRect/>
          </a:stretch>
        </p:blipFill>
        <p:spPr>
          <a:xfrm>
            <a:off x="713857" y="1145156"/>
            <a:ext cx="4405516" cy="3072564"/>
          </a:xfrm>
          <a:prstGeom prst="rect">
            <a:avLst/>
          </a:prstGeom>
        </p:spPr>
      </p:pic>
      <p:pic>
        <p:nvPicPr>
          <p:cNvPr id="2" name="图片 14">
            <a:extLst>
              <a:ext uri="{FF2B5EF4-FFF2-40B4-BE49-F238E27FC236}">
                <a16:creationId xmlns:a16="http://schemas.microsoft.com/office/drawing/2014/main" id="{E3A90A29-0640-CAAF-0EA5-3E5BD3B59B2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69736" y="249079"/>
            <a:ext cx="896368" cy="4856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535006" y="817102"/>
            <a:ext cx="4485368" cy="145774"/>
          </a:xfrm>
          <a:prstGeom prst="rect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49892" y="331094"/>
            <a:ext cx="22822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Showcase</a:t>
            </a:r>
            <a:endParaRPr lang="zh-CN" altLang="en-US" sz="4000" b="1" dirty="0">
              <a:effectLst/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7197116" y="2372851"/>
            <a:ext cx="503582" cy="50358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7197116" y="3345704"/>
            <a:ext cx="503582" cy="50358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49892" y="6465567"/>
            <a:ext cx="8390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535353"/>
                </a:solidFill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*</a:t>
            </a:r>
            <a:r>
              <a:rPr lang="en-GB" altLang="zh-CN" sz="1200" dirty="0">
                <a:solidFill>
                  <a:srgbClr val="535353"/>
                </a:solidFill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 The data above represents the average advertising results of Mainland merchants. Results may vary between different merchants.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35305" y="1485900"/>
            <a:ext cx="5612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dirty="0">
                <a:solidFill>
                  <a:srgbClr val="535353"/>
                </a:solidFill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Performance of merchant after launching advertising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8012430" y="2388235"/>
            <a:ext cx="32283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Exposure: </a:t>
            </a:r>
            <a:r>
              <a:rPr lang="en-US" altLang="zh-CN" sz="2400" b="1" dirty="0">
                <a:solidFill>
                  <a:srgbClr val="C00000"/>
                </a:solidFill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+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209%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017931" y="3366662"/>
            <a:ext cx="23475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Orders: </a:t>
            </a:r>
            <a:r>
              <a:rPr lang="en-US" altLang="zh-CN" sz="2400" b="1" dirty="0">
                <a:solidFill>
                  <a:srgbClr val="C00000"/>
                </a:solidFill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+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138%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t="18661" b="2976"/>
          <a:stretch>
            <a:fillRect/>
          </a:stretch>
        </p:blipFill>
        <p:spPr>
          <a:xfrm>
            <a:off x="641985" y="2194560"/>
            <a:ext cx="6105525" cy="2804160"/>
          </a:xfrm>
          <a:prstGeom prst="rect">
            <a:avLst/>
          </a:prstGeom>
        </p:spPr>
      </p:pic>
      <p:pic>
        <p:nvPicPr>
          <p:cNvPr id="3" name="图片 14">
            <a:extLst>
              <a:ext uri="{FF2B5EF4-FFF2-40B4-BE49-F238E27FC236}">
                <a16:creationId xmlns:a16="http://schemas.microsoft.com/office/drawing/2014/main" id="{57810E93-CFBB-7A3D-FAAD-64EDD124DA6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69736" y="249079"/>
            <a:ext cx="896368" cy="4856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D0253A4-CCB2-8F3F-CCBE-7FF5F4E48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271" y="3139359"/>
            <a:ext cx="3498798" cy="3469562"/>
          </a:xfrm>
          <a:prstGeom prst="rect">
            <a:avLst/>
          </a:prstGeom>
          <a:ln>
            <a:solidFill>
              <a:schemeClr val="accent2"/>
            </a:solidFill>
            <a:prstDash val="sysDash"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510" y="1144446"/>
            <a:ext cx="3612321" cy="1769599"/>
          </a:xfrm>
          <a:prstGeom prst="rect">
            <a:avLst/>
          </a:prstGeom>
          <a:ln>
            <a:solidFill>
              <a:srgbClr val="F7BC27"/>
            </a:solidFill>
            <a:prstDash val="sysDash"/>
          </a:ln>
        </p:spPr>
      </p:pic>
      <p:sp>
        <p:nvSpPr>
          <p:cNvPr id="24" name="矩形 23"/>
          <p:cNvSpPr/>
          <p:nvPr/>
        </p:nvSpPr>
        <p:spPr>
          <a:xfrm>
            <a:off x="601896" y="980374"/>
            <a:ext cx="5044584" cy="145774"/>
          </a:xfrm>
          <a:prstGeom prst="rect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12642" y="566823"/>
            <a:ext cx="6526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400"/>
              </a:spcAft>
            </a:pPr>
            <a:r>
              <a:rPr kumimoji="1" lang="en-US" altLang="zh-CN" sz="36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How</a:t>
            </a:r>
            <a:r>
              <a:rPr kumimoji="1" lang="zh-CN" altLang="en-US" sz="36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36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do I create an ad campaign?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6310" y="1867495"/>
            <a:ext cx="59539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000" dirty="0"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Access</a:t>
            </a:r>
            <a:r>
              <a:rPr lang="zh-CN" altLang="en-GB" sz="2000" dirty="0"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「</a:t>
            </a:r>
            <a:r>
              <a:rPr lang="en-GB" altLang="zh-CN" sz="2000" dirty="0"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Advertising Center</a:t>
            </a:r>
            <a:r>
              <a:rPr lang="zh-CN" altLang="en-GB" sz="2000" dirty="0"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」</a:t>
            </a:r>
            <a:r>
              <a:rPr lang="en-GB" altLang="zh-CN" sz="2000" dirty="0"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on the homepage of Keeta Partner Web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/APP</a:t>
            </a:r>
            <a:endParaRPr lang="en-GB" altLang="zh-CN" sz="2000" dirty="0">
              <a:effectLst/>
              <a:latin typeface="Calibri" panose="020F0502020204030204" pitchFamily="34" charset="0"/>
              <a:ea typeface="PingFang SC" panose="020B04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2381" y="3045847"/>
            <a:ext cx="5562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000" dirty="0"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C</a:t>
            </a:r>
            <a:r>
              <a:rPr lang="en-GB" altLang="zh-CN" sz="2000" dirty="0">
                <a:effectLst/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lick </a:t>
            </a:r>
            <a:r>
              <a:rPr lang="en-US" altLang="zh-CN" sz="2000" dirty="0"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the</a:t>
            </a:r>
            <a:r>
              <a:rPr lang="zh-CN" altLang="en-US" sz="2000" dirty="0"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button</a:t>
            </a:r>
            <a:r>
              <a:rPr lang="zh-CN" altLang="en-US" sz="2000" dirty="0"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to</a:t>
            </a:r>
            <a:r>
              <a:rPr lang="zh-CN" altLang="en-US" sz="2000" dirty="0"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activate</a:t>
            </a:r>
            <a:r>
              <a:rPr lang="zh-CN" altLang="en-US" sz="2000" dirty="0"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 </a:t>
            </a:r>
            <a:r>
              <a:rPr lang="en-GB" altLang="zh-CN" sz="2000" dirty="0">
                <a:latin typeface="Calibri" panose="020F0502020204030204" pitchFamily="34" charset="0"/>
                <a:ea typeface="PingFang SC" panose="020B0400000000000000" pitchFamily="34" charset="-122"/>
                <a:cs typeface="Calibri" panose="020F0502020204030204" pitchFamily="34" charset="0"/>
              </a:rPr>
              <a:t>advertising campaign</a:t>
            </a:r>
            <a:endParaRPr lang="zh-CN" altLang="en-GB" sz="2000" dirty="0">
              <a:effectLst/>
              <a:latin typeface="Calibri" panose="020F0502020204030204" pitchFamily="34" charset="0"/>
              <a:ea typeface="PingFang SC" panose="020B04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65169" y="3827560"/>
            <a:ext cx="56902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The initial advertising budget is set by the platform by default, and you may modify it at any time after activation.</a:t>
            </a:r>
            <a:endParaRPr kumimoji="1" lang="zh-CN" altLang="en-US" sz="20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2381" y="4984218"/>
            <a:ext cx="5562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 The budget is the maximum amount you‘d like to spend during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campaign</a:t>
            </a:r>
            <a:r>
              <a:rPr lang="en-GB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46978" y="1940495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46978" y="3058293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46978" y="3937609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8072290" y="5854518"/>
            <a:ext cx="332875" cy="332875"/>
          </a:xfrm>
          <a:prstGeom prst="ellipse">
            <a:avLst/>
          </a:prstGeom>
          <a:solidFill>
            <a:schemeClr val="bg1"/>
          </a:solidFill>
          <a:ln>
            <a:solidFill>
              <a:srgbClr val="F7BC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098671" y="58362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6" name="椭圆 35"/>
          <p:cNvSpPr/>
          <p:nvPr/>
        </p:nvSpPr>
        <p:spPr>
          <a:xfrm>
            <a:off x="9729669" y="2141808"/>
            <a:ext cx="289932" cy="289932"/>
          </a:xfrm>
          <a:prstGeom prst="ellipse">
            <a:avLst/>
          </a:prstGeom>
          <a:solidFill>
            <a:schemeClr val="bg1"/>
          </a:solidFill>
          <a:ln>
            <a:solidFill>
              <a:srgbClr val="F7BC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14">
            <a:extLst>
              <a:ext uri="{FF2B5EF4-FFF2-40B4-BE49-F238E27FC236}">
                <a16:creationId xmlns:a16="http://schemas.microsoft.com/office/drawing/2014/main" id="{76BDEDBB-298B-AC42-02B9-31B06E1B9D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69736" y="249079"/>
            <a:ext cx="896368" cy="4856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732521" y="980374"/>
            <a:ext cx="5044584" cy="145774"/>
          </a:xfrm>
          <a:prstGeom prst="rect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60640" y="600131"/>
            <a:ext cx="7049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400"/>
              </a:spcAft>
            </a:pPr>
            <a:r>
              <a:rPr kumimoji="1" lang="en-US" altLang="zh-CN" sz="36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How do I track my advertising data?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2727" y="1295365"/>
            <a:ext cx="9018107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altLang="zh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You can view the weekly restaurant exposures and clicks gained, as well as advertising costs on the advertising page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dirty="0">
              <a:effectLst/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0" marR="0"/>
            <a:r>
              <a:rPr lang="en-GB" altLang="zh-CN" dirty="0">
                <a:solidFill>
                  <a:srgbClr val="F66A0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 data metrics for the current week will be delayed by one calendar day.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76854" y="2631078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impressions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gained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76854" y="3304990"/>
            <a:ext cx="231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Clicks gained by ad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76854" y="4613902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earnings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732521" y="2631078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32521" y="3289655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732521" y="3948232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732521" y="4606809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D37AB7-E6E7-2388-EC4E-C3A2C71ABCEF}"/>
              </a:ext>
            </a:extLst>
          </p:cNvPr>
          <p:cNvSpPr txBox="1"/>
          <p:nvPr/>
        </p:nvSpPr>
        <p:spPr>
          <a:xfrm>
            <a:off x="1176854" y="3990754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Orders gained by ad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D065F3-5A1B-3698-57A0-D0CD2655BCDE}"/>
              </a:ext>
            </a:extLst>
          </p:cNvPr>
          <p:cNvSpPr txBox="1"/>
          <p:nvPr/>
        </p:nvSpPr>
        <p:spPr>
          <a:xfrm>
            <a:off x="1176854" y="5240563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cost (your actual cost, excluding Keeta ad discounts)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A0B31D8-923E-4A08-2B8A-84F3B86300B7}"/>
              </a:ext>
            </a:extLst>
          </p:cNvPr>
          <p:cNvSpPr/>
          <p:nvPr/>
        </p:nvSpPr>
        <p:spPr>
          <a:xfrm>
            <a:off x="732521" y="5233470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615FF16-019A-1143-F2E6-D86D22B2AC06}"/>
              </a:ext>
            </a:extLst>
          </p:cNvPr>
          <p:cNvSpPr txBox="1"/>
          <p:nvPr/>
        </p:nvSpPr>
        <p:spPr>
          <a:xfrm>
            <a:off x="1176854" y="5856618"/>
            <a:ext cx="332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ROAS (Return on ad spends)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9DAA616-EDE3-4C20-CF0A-74EA79344ABC}"/>
              </a:ext>
            </a:extLst>
          </p:cNvPr>
          <p:cNvSpPr/>
          <p:nvPr/>
        </p:nvSpPr>
        <p:spPr>
          <a:xfrm>
            <a:off x="732521" y="5849525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14">
            <a:extLst>
              <a:ext uri="{FF2B5EF4-FFF2-40B4-BE49-F238E27FC236}">
                <a16:creationId xmlns:a16="http://schemas.microsoft.com/office/drawing/2014/main" id="{39DF0325-2E20-EAA8-6085-B13A688702B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69736" y="249079"/>
            <a:ext cx="896368" cy="48560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382A909-320F-84F9-29BF-31F333E05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923" y="2653327"/>
            <a:ext cx="4981556" cy="2041990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A2AC6007-703E-48D0-50D7-22DF7E975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166" y="2556514"/>
            <a:ext cx="3854574" cy="3119162"/>
          </a:xfrm>
          <a:prstGeom prst="rect">
            <a:avLst/>
          </a:prstGeom>
          <a:ln>
            <a:solidFill>
              <a:schemeClr val="accent2"/>
            </a:solidFill>
          </a:ln>
        </p:spPr>
      </p:pic>
      <p:cxnSp>
        <p:nvCxnSpPr>
          <p:cNvPr id="19" name="直线连接符 18"/>
          <p:cNvCxnSpPr>
            <a:cxnSpLocks/>
            <a:stCxn id="9" idx="4"/>
          </p:cNvCxnSpPr>
          <p:nvPr/>
        </p:nvCxnSpPr>
        <p:spPr>
          <a:xfrm>
            <a:off x="979410" y="2974703"/>
            <a:ext cx="0" cy="2282785"/>
          </a:xfrm>
          <a:prstGeom prst="line">
            <a:avLst/>
          </a:prstGeom>
          <a:ln w="38100">
            <a:solidFill>
              <a:srgbClr val="FFE8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32521" y="980374"/>
            <a:ext cx="5044584" cy="145774"/>
          </a:xfrm>
          <a:prstGeom prst="rect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42728" y="572060"/>
            <a:ext cx="7025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400"/>
              </a:spcAft>
            </a:pPr>
            <a:r>
              <a:rPr kumimoji="1" lang="en-US" altLang="zh-CN" sz="36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How do I editing my ad campaign</a:t>
            </a:r>
            <a:r>
              <a:rPr kumimoji="1" lang="zh-TW" altLang="en-US" sz="36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？</a:t>
            </a:r>
            <a:endParaRPr kumimoji="1" lang="en-US" altLang="zh-CN" sz="3600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2728" y="1254042"/>
            <a:ext cx="9018107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600"/>
              </a:spcAft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activating advertising, you can still edit your ad campaign at any time based on the operational condition of your restaurant.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Aft>
                <a:spcPts val="600"/>
              </a:spcAft>
            </a:pPr>
            <a:r>
              <a:rPr lang="en-US" altLang="zh-CN" dirty="0">
                <a:solidFill>
                  <a:srgbClr val="F66A0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 modifications are saved, the settings take effect immediately.</a:t>
            </a:r>
            <a:endParaRPr lang="zh-CN" altLang="en-US" dirty="0">
              <a:solidFill>
                <a:srgbClr val="F66A0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39077" y="2605371"/>
            <a:ext cx="447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Click</a:t>
            </a:r>
            <a:r>
              <a:rPr kumimoji="1"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</a:t>
            </a:r>
            <a:r>
              <a:rPr kumimoji="1" lang="en-US" altLang="zh-TW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 Campaign</a:t>
            </a:r>
            <a:r>
              <a:rPr kumimoji="1"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」</a:t>
            </a:r>
            <a:r>
              <a:rPr kumimoji="1" lang="en-US" altLang="zh-TW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 editing page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20736" y="3516975"/>
            <a:ext cx="301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Modify weekly ad budget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19866" y="4942821"/>
            <a:ext cx="636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After modifications are completed, click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Save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」</a:t>
            </a:r>
          </a:p>
        </p:txBody>
      </p:sp>
      <p:sp>
        <p:nvSpPr>
          <p:cNvPr id="9" name="椭圆 8"/>
          <p:cNvSpPr/>
          <p:nvPr/>
        </p:nvSpPr>
        <p:spPr>
          <a:xfrm>
            <a:off x="794744" y="2605371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75694" y="3530648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794744" y="4942821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7172" y="3886307"/>
            <a:ext cx="6294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66A0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TIPS</a:t>
            </a:r>
            <a:r>
              <a:rPr lang="en-US" altLang="zh-CN" sz="1600" dirty="0">
                <a:solidFill>
                  <a:srgbClr val="F66A0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600" dirty="0">
                <a:solidFill>
                  <a:srgbClr val="F66A0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The budget you modify must be greater than the amount used this week. </a:t>
            </a:r>
            <a:endParaRPr kumimoji="1" lang="zh-CN" altLang="en-US" sz="1600" dirty="0">
              <a:solidFill>
                <a:srgbClr val="F66A0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180667" y="5066129"/>
            <a:ext cx="2890345" cy="444888"/>
          </a:xfrm>
          <a:prstGeom prst="rect">
            <a:avLst/>
          </a:prstGeom>
          <a:noFill/>
          <a:ln w="38100">
            <a:solidFill>
              <a:srgbClr val="F7BC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406481">
            <a:off x="10208729" y="5224997"/>
            <a:ext cx="502557" cy="502557"/>
          </a:xfrm>
          <a:prstGeom prst="rect">
            <a:avLst/>
          </a:prstGeom>
        </p:spPr>
      </p:pic>
      <p:pic>
        <p:nvPicPr>
          <p:cNvPr id="7" name="图片 14">
            <a:extLst>
              <a:ext uri="{FF2B5EF4-FFF2-40B4-BE49-F238E27FC236}">
                <a16:creationId xmlns:a16="http://schemas.microsoft.com/office/drawing/2014/main" id="{35E848D3-F657-08AE-13B3-17D904F15EB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69736" y="249079"/>
            <a:ext cx="896368" cy="4856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768240" y="958621"/>
            <a:ext cx="1921952" cy="145774"/>
          </a:xfrm>
          <a:prstGeom prst="rect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42728" y="511025"/>
            <a:ext cx="15004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FAQs</a:t>
            </a:r>
            <a:endParaRPr lang="zh-CN" altLang="en-US" sz="40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39077" y="1431813"/>
            <a:ext cx="5882829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spcAft>
                <a:spcPts val="600"/>
              </a:spcAft>
            </a:pPr>
            <a:r>
              <a:rPr lang="en-GB" altLang="zh-C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will I be billed for ads?</a:t>
            </a:r>
          </a:p>
          <a:p>
            <a:pPr>
              <a:spcAft>
                <a:spcPts val="1200"/>
              </a:spcAft>
            </a:pPr>
            <a:r>
              <a:rPr lang="en-US" altLang="zh-CN" sz="16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A: </a:t>
            </a:r>
            <a:r>
              <a:rPr lang="en-GB" altLang="zh-C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Exposure is free. Pay only after users have clicked your restaurant.</a:t>
            </a:r>
            <a:endParaRPr lang="zh-CN" altLang="en-US" sz="1600" dirty="0">
              <a:effectLst/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36446" y="2451728"/>
            <a:ext cx="997226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600"/>
              </a:spcAft>
            </a:pPr>
            <a:r>
              <a:rPr lang="en-GB" altLang="zh-C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will fees be deducted?</a:t>
            </a:r>
          </a:p>
          <a:p>
            <a:pPr>
              <a:spcAft>
                <a:spcPts val="1200"/>
              </a:spcAft>
            </a:pPr>
            <a:r>
              <a:rPr lang="en-US" altLang="zh-CN" sz="16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</a:t>
            </a:r>
            <a:r>
              <a:rPr lang="en-US" altLang="zh-CN" sz="16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en-GB" altLang="zh-C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daily advertising costs will be automatically deducted from your bill at midday the following day. The total fee paid each week will not exceed the weekly budget you set.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42161" y="3723862"/>
            <a:ext cx="977566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Aft>
                <a:spcPts val="600"/>
              </a:spcAft>
            </a:pPr>
            <a:r>
              <a:rPr lang="en-GB" altLang="zh-C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do I opt out of the campaign?</a:t>
            </a:r>
            <a:endParaRPr lang="en-GB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/>
            <a:r>
              <a:rPr kumimoji="1" lang="en-US" altLang="zh-TW" sz="16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A: </a:t>
            </a:r>
            <a:r>
              <a:rPr lang="en-GB" altLang="zh-C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You can opt out at any time. Just go to the advertising page in your merchant portal and deactivate your campaign at the bottom of the page.</a:t>
            </a:r>
          </a:p>
        </p:txBody>
      </p:sp>
      <p:sp>
        <p:nvSpPr>
          <p:cNvPr id="9" name="椭圆 8"/>
          <p:cNvSpPr/>
          <p:nvPr/>
        </p:nvSpPr>
        <p:spPr>
          <a:xfrm>
            <a:off x="794744" y="1462688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94744" y="2451728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00459" y="3738277"/>
            <a:ext cx="369332" cy="369332"/>
          </a:xfrm>
          <a:prstGeom prst="ellipse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14">
            <a:extLst>
              <a:ext uri="{FF2B5EF4-FFF2-40B4-BE49-F238E27FC236}">
                <a16:creationId xmlns:a16="http://schemas.microsoft.com/office/drawing/2014/main" id="{D9939B00-8435-99F5-8062-41CC328E7A4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69736" y="249079"/>
            <a:ext cx="896368" cy="4856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78829" y="3044279"/>
            <a:ext cx="51520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Thanks</a:t>
            </a:r>
            <a:r>
              <a:rPr lang="zh-TW" altLang="en-US" sz="4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TW" sz="4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for</a:t>
            </a:r>
            <a:r>
              <a:rPr lang="zh-TW" altLang="en-US" sz="4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TW" sz="4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reading</a:t>
            </a:r>
            <a:r>
              <a:rPr lang="zh-TW" altLang="en-US" sz="4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TW" altLang="en-US" sz="44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Wingdings" panose="05000000000000000000" pitchFamily="2" charset="2"/>
              </a:rPr>
              <a:t></a:t>
            </a:r>
            <a:endParaRPr lang="zh-CN" altLang="en-US" sz="4400" b="1" dirty="0">
              <a:effectLst/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3909390"/>
            <a:ext cx="12192000" cy="2948609"/>
          </a:xfrm>
          <a:prstGeom prst="rect">
            <a:avLst/>
          </a:prstGeom>
          <a:solidFill>
            <a:srgbClr val="FFE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4">
            <a:extLst>
              <a:ext uri="{FF2B5EF4-FFF2-40B4-BE49-F238E27FC236}">
                <a16:creationId xmlns:a16="http://schemas.microsoft.com/office/drawing/2014/main" id="{510BBBE2-2EFC-FB8C-5366-417D0E7CD2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69736" y="249079"/>
            <a:ext cx="896368" cy="48560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519</Words>
  <Application>Microsoft Macintosh PowerPoint</Application>
  <PresentationFormat>宽屏</PresentationFormat>
  <Paragraphs>77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PingFang SC</vt:lpstr>
      <vt:lpstr>微软雅黑</vt:lpstr>
      <vt:lpstr>Arial</vt:lpstr>
      <vt:lpstr>Calibri</vt:lpstr>
      <vt:lpstr>Franklin Gothic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12</cp:revision>
  <dcterms:created xsi:type="dcterms:W3CDTF">2024-06-17T09:11:53Z</dcterms:created>
  <dcterms:modified xsi:type="dcterms:W3CDTF">2026-04-20T03:49:56Z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AdvertisingBrief-260318-Brazil.pptx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ICV">
    <vt:lpwstr>D83E600941848DAAD9FD6F667D0EB9FA_42</vt:lpwstr>
  </property>
  <property fmtid="{D5CDD505-2E9C-101B-9397-08002B2CF9AE}" pid="7" name="KSOProductBuildVer">
    <vt:lpwstr>2052-6.8.0.8846</vt:lpwstr>
  </property>
  <property fmtid="{D5CDD505-2E9C-101B-9397-08002B2CF9AE}" pid="8" name="s">
    <vt:lpwstr>362e5c249c5df2ea844428dda9a7dbba1f3f2467</vt:lpwstr>
  </property>
</Properties>
</file>