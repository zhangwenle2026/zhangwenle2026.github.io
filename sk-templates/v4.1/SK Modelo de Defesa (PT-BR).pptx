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0816" y="192024"/>
            <a:ext cx="886968" cy="4663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274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AAAAAA"/>
                </a:solidFill>
                <a:latin typeface="Verdana"/>
              </a:defRPr>
            </a:pPr>
            <a:r>
              <a:t>KEETA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5603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FFFFFF"/>
                </a:solidFill>
                <a:latin typeface="Verdana"/>
              </a:defRPr>
            </a:pPr>
            <a:r>
              <a:t>Relatório de Operações do Comerciante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FFE41F"/>
                </a:solidFill>
                <a:latin typeface="Verdana"/>
              </a:defRPr>
            </a:pPr>
            <a:r>
              <a:t>Survive Kit — Estratégia de Defesa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3931920"/>
            <a:ext cx="4572000" cy="36576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4114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AAAAAA"/>
                </a:solidFill>
                <a:latin typeface="Verdana"/>
              </a:defRPr>
            </a:pPr>
            <a:r>
              <a:t>ID da Loja: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41148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FFFFFF"/>
                </a:solidFill>
                <a:latin typeface="Verdana"/>
              </a:defRPr>
            </a:pPr>
            <a:r>
              <a:t>[ID]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5902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AAAAAA"/>
                </a:solidFill>
                <a:latin typeface="Verdana"/>
              </a:defRPr>
            </a:pPr>
            <a:r>
              <a:t>Comerciante: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45902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FFFFFF"/>
                </a:solidFill>
                <a:latin typeface="Verdana"/>
              </a:defRPr>
            </a:pPr>
            <a:r>
              <a:t>[Nome]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506577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AAAAAA"/>
                </a:solidFill>
                <a:latin typeface="Verdana"/>
              </a:defRPr>
            </a:pPr>
            <a:r>
              <a:t>Data: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506577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FFFFFF"/>
                </a:solidFill>
                <a:latin typeface="Verdana"/>
              </a:defRPr>
            </a:pPr>
            <a:r>
              <a:t>[MM/AAAA]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54126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AAAAAA"/>
                </a:solidFill>
                <a:latin typeface="Verdana"/>
              </a:defRPr>
            </a:pPr>
            <a:r>
              <a:t>BDM: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554126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FFFFFF"/>
                </a:solidFill>
                <a:latin typeface="Verdana"/>
              </a:defRPr>
            </a:pPr>
            <a:r>
              <a:t>[Nome BD]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1371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91919"/>
                </a:solidFill>
                <a:latin typeface="Verdana"/>
              </a:defRPr>
            </a:pPr>
            <a:r>
              <a:t>Resumo Executivo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50292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66666"/>
                </a:solidFill>
                <a:latin typeface="Verdana"/>
              </a:defRPr>
            </a:pPr>
            <a:r>
              <a:t>Período: [Mês Ano]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731520"/>
            <a:ext cx="11750040" cy="36576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137160"/>
            <a:ext cx="1005840" cy="5394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5836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AAAAAA"/>
                </a:solidFill>
                <a:latin typeface="Verdana"/>
              </a:defRPr>
            </a:pPr>
            <a:r>
              <a:t>KEETA Confidential · Keeta SMB BD · SP Metropolitan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868680"/>
            <a:ext cx="3566160" cy="1508760"/>
          </a:xfrm>
          <a:prstGeom prst="roundRect">
            <a:avLst/>
          </a:prstGeom>
          <a:solidFill>
            <a:srgbClr val="F0FAF7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868680"/>
            <a:ext cx="356616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941832"/>
            <a:ext cx="3346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1CC9A"/>
                </a:solidFill>
                <a:latin typeface="Verdana"/>
              </a:defRPr>
            </a:pPr>
            <a:r>
              <a:t>VENDAS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280160"/>
            <a:ext cx="33467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1">
                <a:solidFill>
                  <a:srgbClr val="191919"/>
                </a:solidFill>
                <a:latin typeface="Verdana"/>
              </a:defRPr>
            </a:pPr>
            <a:r>
              <a:t>R$ [---]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1965960"/>
            <a:ext cx="3346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[MoM +X%]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69079" y="868680"/>
            <a:ext cx="3566160" cy="1508760"/>
          </a:xfrm>
          <a:prstGeom prst="roundRect">
            <a:avLst/>
          </a:prstGeom>
          <a:solidFill>
            <a:srgbClr val="F0FAF7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069079" y="868680"/>
            <a:ext cx="356616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78807" y="941832"/>
            <a:ext cx="3346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1CC9A"/>
                </a:solidFill>
                <a:latin typeface="Verdana"/>
              </a:defRPr>
            </a:pPr>
            <a:r>
              <a:t>PEDIDOS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78807" y="1280160"/>
            <a:ext cx="33467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1">
                <a:solidFill>
                  <a:srgbClr val="191919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78807" y="1965960"/>
            <a:ext cx="3346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[MoM +X%]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18119" y="868680"/>
            <a:ext cx="3566160" cy="1508760"/>
          </a:xfrm>
          <a:prstGeom prst="roundRect">
            <a:avLst/>
          </a:prstGeom>
          <a:solidFill>
            <a:srgbClr val="F0FAF7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18119" y="868680"/>
            <a:ext cx="356616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27847" y="941832"/>
            <a:ext cx="3346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1CC9A"/>
                </a:solidFill>
                <a:latin typeface="Verdana"/>
              </a:defRPr>
            </a:pPr>
            <a:r>
              <a:t>TICKET MÉDIO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27847" y="1280160"/>
            <a:ext cx="33467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1">
                <a:solidFill>
                  <a:srgbClr val="191919"/>
                </a:solidFill>
                <a:latin typeface="Verdana"/>
              </a:defRPr>
            </a:pPr>
            <a:r>
              <a:t>R$ [---]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27847" y="1965960"/>
            <a:ext cx="3346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[MoM +X%]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0040" y="2606040"/>
            <a:ext cx="5394960" cy="356616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2606040"/>
            <a:ext cx="539496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26974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91919"/>
                </a:solidFill>
                <a:latin typeface="Verdana"/>
              </a:defRPr>
            </a:pPr>
            <a:r>
              <a:t>Crescimento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200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BDBDBD"/>
                </a:solidFill>
                <a:latin typeface="Verdana"/>
              </a:defRPr>
            </a:pPr>
            <a:r>
              <a:t>• [Destaque 1]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02336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BDBDBD"/>
                </a:solidFill>
                <a:latin typeface="Verdana"/>
              </a:defRPr>
            </a:pPr>
            <a:r>
              <a:t>• [Destaque 2]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BDBDBD"/>
                </a:solidFill>
                <a:latin typeface="Verdana"/>
              </a:defRPr>
            </a:pPr>
            <a:r>
              <a:t>• [Destaque 3]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897879" y="2606040"/>
            <a:ext cx="5394960" cy="356616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897879" y="2606040"/>
            <a:ext cx="539496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5040" y="26974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91919"/>
                </a:solidFill>
                <a:latin typeface="Verdana"/>
              </a:defRPr>
            </a:pPr>
            <a:r>
              <a:t>Riscos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0" y="3200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BDBDBD"/>
                </a:solidFill>
                <a:latin typeface="Verdana"/>
              </a:defRPr>
            </a:pPr>
            <a:r>
              <a:t>• [Risco 1]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35040" y="402336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BDBDBD"/>
                </a:solidFill>
                <a:latin typeface="Verdana"/>
              </a:defRPr>
            </a:pPr>
            <a:r>
              <a:t>• [Risco 2]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3504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BDBDBD"/>
                </a:solidFill>
                <a:latin typeface="Verdana"/>
              </a:defRPr>
            </a:pPr>
            <a:r>
              <a:t>• [Risco 3]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1371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91919"/>
                </a:solidFill>
                <a:latin typeface="Verdana"/>
              </a:defRPr>
            </a:pPr>
            <a:r>
              <a:t>Visão de Crescimento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50292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66666"/>
                </a:solidFill>
                <a:latin typeface="Verdana"/>
              </a:defRPr>
            </a:pPr>
            <a:r>
              <a:t>[Período] — Trajetória dos indicadores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731520"/>
            <a:ext cx="11750040" cy="36576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137160"/>
            <a:ext cx="1005840" cy="5394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5836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AAAAAA"/>
                </a:solidFill>
                <a:latin typeface="Verdana"/>
              </a:defRPr>
            </a:pPr>
            <a:r>
              <a:t>KEETA Confidential · Keeta SMB BD · SP Metropolitan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868680"/>
            <a:ext cx="3566160" cy="685800"/>
          </a:xfrm>
          <a:prstGeom prst="roundRect">
            <a:avLst/>
          </a:prstGeom>
          <a:solidFill>
            <a:srgbClr val="F0FAF7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9326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1CC9A"/>
                </a:solidFill>
                <a:latin typeface="Verdana"/>
              </a:defRPr>
            </a:pPr>
            <a:r>
              <a:t>VENDAS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93268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1">
                <a:solidFill>
                  <a:srgbClr val="BDBDBD"/>
                </a:solidFill>
                <a:latin typeface="Verdana"/>
              </a:defRPr>
            </a:pPr>
            <a:r>
              <a:t>[+X%]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69079" y="868680"/>
            <a:ext cx="3566160" cy="685800"/>
          </a:xfrm>
          <a:prstGeom prst="roundRect">
            <a:avLst/>
          </a:prstGeom>
          <a:solidFill>
            <a:srgbClr val="F0FAF7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0" y="9326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1CC9A"/>
                </a:solidFill>
                <a:latin typeface="Verdana"/>
              </a:defRPr>
            </a:pPr>
            <a:r>
              <a:t>PEDIDOS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399" y="93268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1">
                <a:solidFill>
                  <a:srgbClr val="BDBDBD"/>
                </a:solidFill>
                <a:latin typeface="Verdana"/>
              </a:defRPr>
            </a:pPr>
            <a:r>
              <a:t>[+X%]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18119" y="868680"/>
            <a:ext cx="3566160" cy="685800"/>
          </a:xfrm>
          <a:prstGeom prst="roundRect">
            <a:avLst/>
          </a:prstGeom>
          <a:solidFill>
            <a:srgbClr val="F0FAF7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79" y="9326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1CC9A"/>
                </a:solidFill>
                <a:latin typeface="Verdana"/>
              </a:defRPr>
            </a:pPr>
            <a:r>
              <a:t>AOV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78439" y="93268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1">
                <a:solidFill>
                  <a:srgbClr val="BDBDBD"/>
                </a:solidFill>
                <a:latin typeface="Verdana"/>
              </a:defRPr>
            </a:pPr>
            <a:r>
              <a:t>[+X%]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1783080"/>
            <a:ext cx="11430000" cy="4160520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0" y="3474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1">
                <a:solidFill>
                  <a:srgbClr val="BDBDBD"/>
                </a:solidFill>
                <a:latin typeface="Verdana"/>
              </a:defRPr>
            </a:pPr>
            <a:r>
              <a:t>[Inserir Gráfico de Crescimento]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61264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Insight: [Tendência principal]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1371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91919"/>
                </a:solidFill>
                <a:latin typeface="Verdana"/>
              </a:defRPr>
            </a:pPr>
            <a:r>
              <a:t>Fórmula GMV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50292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66666"/>
                </a:solidFill>
                <a:latin typeface="Verdana"/>
              </a:defRPr>
            </a:pPr>
            <a:r>
              <a:t>Entendendo o que impulsiona a receita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731520"/>
            <a:ext cx="11750040" cy="36576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137160"/>
            <a:ext cx="1005840" cy="5394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5836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AAAAAA"/>
                </a:solidFill>
                <a:latin typeface="Verdana"/>
              </a:defRPr>
            </a:pPr>
            <a:r>
              <a:t>KEETA Confidential · Keeta SMB BD · SP Metropolitan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0972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191919"/>
                </a:solidFill>
                <a:latin typeface="Verdana"/>
              </a:defRPr>
            </a:pPr>
            <a:r>
              <a:t>GMV = Visitantes × Taxa de Conversão × AOV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2103120"/>
            <a:ext cx="3657600" cy="3474720"/>
          </a:xfrm>
          <a:prstGeom prst="roundRect">
            <a:avLst/>
          </a:prstGeom>
          <a:solidFill>
            <a:srgbClr val="F0FAF7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2103120"/>
            <a:ext cx="365760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2402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1CC9A"/>
                </a:solidFill>
                <a:latin typeface="Verdana"/>
              </a:defRPr>
            </a:pPr>
            <a:r>
              <a:t>VISITANTES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7432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1">
                <a:solidFill>
                  <a:srgbClr val="191919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3832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BDBDBD"/>
                </a:solidFill>
                <a:latin typeface="Verdana"/>
              </a:defRPr>
            </a:pPr>
            <a:r>
              <a:t>[+X%]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93192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[Análise e recomendações]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59" y="2103120"/>
            <a:ext cx="3657600" cy="3474720"/>
          </a:xfrm>
          <a:prstGeom prst="roundRect">
            <a:avLst/>
          </a:prstGeom>
          <a:solidFill>
            <a:srgbClr val="F0FAF7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51959" y="2103120"/>
            <a:ext cx="365760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22402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1CC9A"/>
                </a:solidFill>
                <a:latin typeface="Verdana"/>
              </a:defRPr>
            </a:pPr>
            <a:r>
              <a:t>CONVERSÃO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7432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1">
                <a:solidFill>
                  <a:srgbClr val="191919"/>
                </a:solidFill>
                <a:latin typeface="Verdana"/>
              </a:defRPr>
            </a:pPr>
            <a:r>
              <a:t>[---%]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3832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BDBDBD"/>
                </a:solidFill>
                <a:latin typeface="Verdana"/>
              </a:defRPr>
            </a:pPr>
            <a:r>
              <a:t>[+X pp]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393192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[Análise e recomendações]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83879" y="2103120"/>
            <a:ext cx="3657600" cy="3474720"/>
          </a:xfrm>
          <a:prstGeom prst="roundRect">
            <a:avLst/>
          </a:prstGeom>
          <a:solidFill>
            <a:srgbClr val="F0FAF7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83879" y="2103120"/>
            <a:ext cx="365760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22402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1CC9A"/>
                </a:solidFill>
                <a:latin typeface="Verdana"/>
              </a:defRPr>
            </a:pPr>
            <a:r>
              <a:t>AOV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7432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1">
                <a:solidFill>
                  <a:srgbClr val="191919"/>
                </a:solidFill>
                <a:latin typeface="Verdana"/>
              </a:defRPr>
            </a:pPr>
            <a:r>
              <a:t>R$ [---]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33832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BDBDBD"/>
                </a:solidFill>
                <a:latin typeface="Verdana"/>
              </a:defRPr>
            </a:pPr>
            <a:r>
              <a:t>[+X%]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393192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[Análise e recomendações]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1371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91919"/>
                </a:solidFill>
                <a:latin typeface="Verdana"/>
              </a:defRPr>
            </a:pPr>
            <a:r>
              <a:t>Desempenho dos Itens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50292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66666"/>
                </a:solidFill>
                <a:latin typeface="Verdana"/>
              </a:defRPr>
            </a:pPr>
            <a:r>
              <a:t>[Período] — por volume de pedidos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731520"/>
            <a:ext cx="11750040" cy="36576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137160"/>
            <a:ext cx="1005840" cy="5394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5836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AAAAAA"/>
                </a:solidFill>
                <a:latin typeface="Verdana"/>
              </a:defRPr>
            </a:pPr>
            <a:r>
              <a:t>KEETA Confidential · Keeta SMB BD · SP Metropolitan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868680"/>
            <a:ext cx="6858000" cy="50292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9601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1CC9A"/>
                </a:solidFill>
                <a:latin typeface="Verdana"/>
              </a:defRPr>
            </a:pPr>
            <a:r>
              <a:t>#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9601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1CC9A"/>
                </a:solidFill>
                <a:latin typeface="Verdana"/>
              </a:defRPr>
            </a:pPr>
            <a:r>
              <a:t>Item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9601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1CC9A"/>
                </a:solidFill>
                <a:latin typeface="Verdana"/>
              </a:defRPr>
            </a:pPr>
            <a:r>
              <a:t>Pedidos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9601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1CC9A"/>
                </a:solidFill>
                <a:latin typeface="Verdana"/>
              </a:defRPr>
            </a:pPr>
            <a:r>
              <a:t>GMV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9601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1CC9A"/>
                </a:solidFill>
                <a:latin typeface="Verdana"/>
              </a:defRPr>
            </a:pPr>
            <a:r>
              <a:t>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258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13258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13258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13258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13258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1031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21031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21031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21031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21031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28803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83080" y="28803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28803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28803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720" y="28803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6576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83080" y="36576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08960" y="36576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36576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60720" y="36576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44348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83080" y="44348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08960" y="44348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34840" y="44348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60720" y="44348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406640" y="868680"/>
            <a:ext cx="4526280" cy="5029200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0" y="301752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1">
                <a:solidFill>
                  <a:srgbClr val="BDBDBD"/>
                </a:solidFill>
                <a:latin typeface="Verdana"/>
              </a:defRPr>
            </a:pPr>
            <a:r>
              <a:t>[Inserir Gráfico]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0040" y="61264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Insight: [Item principal representa X% dos pedidos]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1371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91919"/>
                </a:solidFill>
                <a:latin typeface="Verdana"/>
              </a:defRPr>
            </a:pPr>
            <a:r>
              <a:t>Análise de Promoções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50292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66666"/>
                </a:solidFill>
                <a:latin typeface="Verdana"/>
              </a:defRPr>
            </a:pPr>
            <a:r>
              <a:t>Investimento e ROI por tipo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731520"/>
            <a:ext cx="11750040" cy="36576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137160"/>
            <a:ext cx="1005840" cy="5394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5836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AAAAAA"/>
                </a:solidFill>
                <a:latin typeface="Verdana"/>
              </a:defRPr>
            </a:pPr>
            <a:r>
              <a:t>KEETA Confidential · Keeta SMB BD · SP Metropolitan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8686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1CC9A"/>
                </a:solidFill>
                <a:latin typeface="Verdana"/>
              </a:defRPr>
            </a:pPr>
            <a:r>
              <a:t>GASTO TOTAL PROMO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143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1">
                <a:solidFill>
                  <a:srgbClr val="191919"/>
                </a:solidFill>
                <a:latin typeface="Verdana"/>
              </a:defRPr>
            </a:pPr>
            <a:r>
              <a:t>R$ [---]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1234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[vs prior: +X%]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1920240"/>
            <a:ext cx="3657600" cy="3474720"/>
          </a:xfrm>
          <a:prstGeom prst="roundRect">
            <a:avLst/>
          </a:prstGeom>
          <a:solidFill>
            <a:srgbClr val="F0FAF7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1920240"/>
            <a:ext cx="365760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0574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1CC9A"/>
                </a:solidFill>
                <a:latin typeface="Verdana"/>
              </a:defRPr>
            </a:pPr>
            <a:r>
              <a:t>ITEM PROMO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4688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1">
                <a:solidFill>
                  <a:srgbClr val="191919"/>
                </a:solidFill>
                <a:latin typeface="Verdana"/>
              </a:defRPr>
            </a:pPr>
            <a:r>
              <a:t>R$ [---]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0175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[---] pedidos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4747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1">
                <a:solidFill>
                  <a:srgbClr val="BDBDBD"/>
                </a:solidFill>
                <a:latin typeface="Verdana"/>
              </a:defRPr>
            </a:pPr>
            <a:r>
              <a:t>ROI: [X]x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02336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[Chart/details placeholder]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60520" y="1920240"/>
            <a:ext cx="3657600" cy="3474720"/>
          </a:xfrm>
          <a:prstGeom prst="roundRect">
            <a:avLst/>
          </a:prstGeom>
          <a:solidFill>
            <a:srgbClr val="F0FAF7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60520" y="1920240"/>
            <a:ext cx="365760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80" y="20574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1CC9A"/>
                </a:solidFill>
                <a:latin typeface="Verdana"/>
              </a:defRPr>
            </a:pPr>
            <a:r>
              <a:t>DESCONTO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24688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1">
                <a:solidFill>
                  <a:srgbClr val="191919"/>
                </a:solidFill>
                <a:latin typeface="Verdana"/>
              </a:defRPr>
            </a:pPr>
            <a:r>
              <a:t>R$ [---]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30175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[---] pedidos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34747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1">
                <a:solidFill>
                  <a:srgbClr val="BDBDBD"/>
                </a:solidFill>
                <a:latin typeface="Verdana"/>
              </a:defRPr>
            </a:pPr>
            <a:r>
              <a:t>ROI: [X]x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402336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[Chart/details placeholder]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01000" y="1920240"/>
            <a:ext cx="3657600" cy="3474720"/>
          </a:xfrm>
          <a:prstGeom prst="roundRect">
            <a:avLst/>
          </a:prstGeom>
          <a:solidFill>
            <a:srgbClr val="F0FAF7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1000" y="1920240"/>
            <a:ext cx="365760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60" y="20574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1CC9A"/>
                </a:solidFill>
                <a:latin typeface="Verdana"/>
              </a:defRPr>
            </a:pPr>
            <a:r>
              <a:t>CUPOM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24688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1">
                <a:solidFill>
                  <a:srgbClr val="191919"/>
                </a:solidFill>
                <a:latin typeface="Verdana"/>
              </a:defRPr>
            </a:pPr>
            <a:r>
              <a:t>R$ [---]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30175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[---] pedidos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34747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1">
                <a:solidFill>
                  <a:srgbClr val="BDBDBD"/>
                </a:solidFill>
                <a:latin typeface="Verdana"/>
              </a:defRPr>
            </a:pPr>
            <a:r>
              <a:t>ROI: [X]x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402336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[Chart/details placeholder]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" y="61264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Insight: [Tipo de promo mais eficaz]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1371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91919"/>
                </a:solidFill>
                <a:latin typeface="Verdana"/>
              </a:defRPr>
            </a:pPr>
            <a:r>
              <a:t>Qualidade + Problemas de Pedidos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50292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66666"/>
                </a:solidFill>
                <a:latin typeface="Verdana"/>
              </a:defRPr>
            </a:pPr>
            <a:r>
              <a:t>KPIs operacionais e perdas de qualidade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731520"/>
            <a:ext cx="11750040" cy="36576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137160"/>
            <a:ext cx="1005840" cy="5394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5836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AAAAAA"/>
                </a:solidFill>
                <a:latin typeface="Verdana"/>
              </a:defRPr>
            </a:pPr>
            <a:r>
              <a:t>KEETA Confidential · Keeta SMB BD · SP Metropolitan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868680"/>
            <a:ext cx="3657600" cy="1188720"/>
          </a:xfrm>
          <a:prstGeom prst="roundRect">
            <a:avLst/>
          </a:prstGeom>
          <a:solidFill>
            <a:srgbClr val="F0FAF7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96012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11CC9A"/>
                </a:solidFill>
                <a:latin typeface="Verdana"/>
              </a:defRPr>
            </a:pPr>
            <a:r>
              <a:t>INATIVIDADE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2344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1">
                <a:solidFill>
                  <a:srgbClr val="191919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69164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1">
                <a:solidFill>
                  <a:srgbClr val="BDBDBD"/>
                </a:solidFill>
                <a:latin typeface="Verdana"/>
              </a:defRPr>
            </a:pPr>
            <a:r>
              <a:t>[vs prior]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868680"/>
            <a:ext cx="3657600" cy="1188720"/>
          </a:xfrm>
          <a:prstGeom prst="roundRect">
            <a:avLst/>
          </a:prstGeom>
          <a:solidFill>
            <a:srgbClr val="F0FAF7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0248" y="96012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11CC9A"/>
                </a:solidFill>
                <a:latin typeface="Verdana"/>
              </a:defRPr>
            </a:pPr>
            <a:r>
              <a:t>CANCELAMENTO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70248" y="12344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1">
                <a:solidFill>
                  <a:srgbClr val="191919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70248" y="169164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1">
                <a:solidFill>
                  <a:srgbClr val="BDBDBD"/>
                </a:solidFill>
                <a:latin typeface="Verdana"/>
              </a:defRPr>
            </a:pPr>
            <a:r>
              <a:t>[vs prior]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868680"/>
            <a:ext cx="3657600" cy="1188720"/>
          </a:xfrm>
          <a:prstGeom prst="roundRect">
            <a:avLst/>
          </a:prstGeom>
          <a:solidFill>
            <a:srgbClr val="F0FAF7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10727" y="96012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11CC9A"/>
                </a:solidFill>
                <a:latin typeface="Verdana"/>
              </a:defRPr>
            </a:pPr>
            <a:r>
              <a:t>T. PREPARO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10727" y="12344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1">
                <a:solidFill>
                  <a:srgbClr val="191919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10727" y="169164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1">
                <a:solidFill>
                  <a:srgbClr val="BDBDBD"/>
                </a:solidFill>
                <a:latin typeface="Verdana"/>
              </a:defRPr>
            </a:pPr>
            <a:r>
              <a:t>[vs prior]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" y="2194560"/>
            <a:ext cx="3657600" cy="1188720"/>
          </a:xfrm>
          <a:prstGeom prst="roundRect">
            <a:avLst/>
          </a:prstGeom>
          <a:solidFill>
            <a:srgbClr val="F0FAF7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" y="228600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11CC9A"/>
                </a:solidFill>
                <a:latin typeface="Verdana"/>
              </a:defRPr>
            </a:pPr>
            <a:r>
              <a:t>MARCAR PRONTO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" y="25603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1">
                <a:solidFill>
                  <a:srgbClr val="191919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" y="301752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1">
                <a:solidFill>
                  <a:srgbClr val="BDBDBD"/>
                </a:solidFill>
                <a:latin typeface="Verdana"/>
              </a:defRPr>
            </a:pPr>
            <a:r>
              <a:t>[vs prior]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60520" y="2194560"/>
            <a:ext cx="3657600" cy="1188720"/>
          </a:xfrm>
          <a:prstGeom prst="roundRect">
            <a:avLst/>
          </a:prstGeom>
          <a:solidFill>
            <a:srgbClr val="F0FAF7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70248" y="228600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11CC9A"/>
                </a:solidFill>
                <a:latin typeface="Verdana"/>
              </a:defRPr>
            </a:pPr>
            <a:r>
              <a:t>AVALIAÇÃO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70248" y="25603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1">
                <a:solidFill>
                  <a:srgbClr val="191919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70248" y="301752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1">
                <a:solidFill>
                  <a:srgbClr val="BDBDBD"/>
                </a:solidFill>
                <a:latin typeface="Verdana"/>
              </a:defRPr>
            </a:pPr>
            <a:r>
              <a:t>[vs prior]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01000" y="2194560"/>
            <a:ext cx="3657600" cy="1188720"/>
          </a:xfrm>
          <a:prstGeom prst="roundRect">
            <a:avLst/>
          </a:prstGeom>
          <a:solidFill>
            <a:srgbClr val="F0FAF7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10727" y="228600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11CC9A"/>
                </a:solidFill>
                <a:latin typeface="Verdana"/>
              </a:defRPr>
            </a:pPr>
            <a:r>
              <a:t>PRECISÃO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10727" y="25603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1">
                <a:solidFill>
                  <a:srgbClr val="191919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10727" y="301752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1">
                <a:solidFill>
                  <a:srgbClr val="BDBDBD"/>
                </a:solidFill>
                <a:latin typeface="Verdana"/>
              </a:defRPr>
            </a:pPr>
            <a:r>
              <a:t>[vs prior]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0040" y="3749039"/>
            <a:ext cx="11521440" cy="2194560"/>
          </a:xfrm>
          <a:prstGeom prst="roundRect">
            <a:avLst/>
          </a:prstGeom>
          <a:solidFill>
            <a:srgbClr val="FFF5F5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3840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C62828"/>
                </a:solidFill>
                <a:latin typeface="Verdana"/>
              </a:defRPr>
            </a:pPr>
            <a:r>
              <a:t>PROBLEMAS DE QUALIDADE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4206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1">
                <a:solidFill>
                  <a:srgbClr val="C62828"/>
                </a:solidFill>
                <a:latin typeface="Verdana"/>
              </a:defRPr>
            </a:pPr>
            <a:r>
              <a:t>TOTAL LOSS: R$ [---]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846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666666"/>
                </a:solidFill>
                <a:latin typeface="Verdana"/>
              </a:defRPr>
            </a:pPr>
            <a:r>
              <a:t>Itens Faltantes: R$ [---]  |  Itens Errados: R$ [---]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42062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1">
                <a:solidFill>
                  <a:srgbClr val="BDBDBD"/>
                </a:solidFill>
                <a:latin typeface="Verdana"/>
              </a:defRPr>
            </a:pPr>
            <a:r>
              <a:t>[Inserir Gráfico]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" y="61264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Ação: [Recomendação específica]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1371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91919"/>
                </a:solidFill>
                <a:latin typeface="Verdana"/>
              </a:defRPr>
            </a:pPr>
            <a:r>
              <a:t>Análise de Clientes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50292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66666"/>
                </a:solidFill>
                <a:latin typeface="Verdana"/>
              </a:defRPr>
            </a:pPr>
            <a:r>
              <a:t>Últimos 30 dias — aquisição e retenção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731520"/>
            <a:ext cx="11750040" cy="36576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137160"/>
            <a:ext cx="1005840" cy="5394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5836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AAAAAA"/>
                </a:solidFill>
                <a:latin typeface="Verdana"/>
              </a:defRPr>
            </a:pPr>
            <a:r>
              <a:t>KEETA Confidential · Keeta SMB BD · SP Metropolitan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005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1CC9A"/>
                </a:solidFill>
                <a:latin typeface="Verdana"/>
              </a:defRPr>
            </a:pPr>
            <a:r>
              <a:t>TOTAL CLIENTES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3716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1">
                <a:solidFill>
                  <a:srgbClr val="191919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2194560"/>
            <a:ext cx="5029200" cy="1097280"/>
          </a:xfrm>
          <a:prstGeom prst="roundRect">
            <a:avLst/>
          </a:prstGeom>
          <a:solidFill>
            <a:srgbClr val="F0FAF7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666666"/>
                </a:solidFill>
                <a:latin typeface="Verdana"/>
              </a:defRPr>
            </a:pPr>
            <a:r>
              <a:t>NOVOS: [---%]  |  RECORRENTES: [---%]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3566160"/>
            <a:ext cx="1600200" cy="1097280"/>
          </a:xfrm>
          <a:prstGeom prst="roundRect">
            <a:avLst/>
          </a:prstGeom>
          <a:solidFill>
            <a:srgbClr val="F0FAF7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36576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11CC9A"/>
                </a:solidFill>
                <a:latin typeface="Verdana"/>
              </a:defRPr>
            </a:pPr>
            <a:r>
              <a:t>Taxa Novos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977639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1">
                <a:solidFill>
                  <a:srgbClr val="191919"/>
                </a:solidFill>
                <a:latin typeface="Verdana"/>
              </a:defRPr>
            </a:pPr>
            <a:r>
              <a:t>[---%]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57400" y="3566160"/>
            <a:ext cx="1600200" cy="1097280"/>
          </a:xfrm>
          <a:prstGeom prst="roundRect">
            <a:avLst/>
          </a:prstGeom>
          <a:solidFill>
            <a:srgbClr val="F0FAF7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48840" y="36576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11CC9A"/>
                </a:solidFill>
                <a:latin typeface="Verdana"/>
              </a:defRPr>
            </a:pPr>
            <a:r>
              <a:t>Retenção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40" y="3977639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1">
                <a:solidFill>
                  <a:srgbClr val="191919"/>
                </a:solidFill>
                <a:latin typeface="Verdana"/>
              </a:defRPr>
            </a:pPr>
            <a:r>
              <a:t>[---%]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94759" y="3566160"/>
            <a:ext cx="1600200" cy="1097280"/>
          </a:xfrm>
          <a:prstGeom prst="roundRect">
            <a:avLst/>
          </a:prstGeom>
          <a:solidFill>
            <a:srgbClr val="F0FAF7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86200" y="36576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11CC9A"/>
                </a:solidFill>
                <a:latin typeface="Verdana"/>
              </a:defRPr>
            </a:pPr>
            <a:r>
              <a:t>Frequência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86200" y="3977639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1">
                <a:solidFill>
                  <a:srgbClr val="191919"/>
                </a:solidFill>
                <a:latin typeface="Verdana"/>
              </a:defRPr>
            </a:pPr>
            <a:r>
              <a:t>[X ped/mês]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0" y="868680"/>
            <a:ext cx="5760720" cy="5212080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0" y="32004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1">
                <a:solidFill>
                  <a:srgbClr val="BDBDBD"/>
                </a:solidFill>
                <a:latin typeface="Verdana"/>
              </a:defRPr>
            </a:pPr>
            <a:r>
              <a:t>[Inserir Gráfico]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1371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91919"/>
                </a:solidFill>
                <a:latin typeface="Verdana"/>
              </a:defRPr>
            </a:pPr>
            <a:r>
              <a:t>Visão Geral da Ameaça 99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50292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66666"/>
                </a:solidFill>
                <a:latin typeface="Verdana"/>
              </a:defRPr>
            </a:pPr>
            <a:r>
              <a:t>Avaliação da ameaça competitiva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731520"/>
            <a:ext cx="11750040" cy="36576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137160"/>
            <a:ext cx="1005840" cy="5394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5836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AAAAAA"/>
                </a:solidFill>
                <a:latin typeface="Verdana"/>
              </a:defRPr>
            </a:pPr>
            <a:r>
              <a:t>KEETA Confidential · Keeta SMB BD · SP Metropolitan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1005840"/>
            <a:ext cx="3931920" cy="914400"/>
          </a:xfrm>
          <a:prstGeom prst="roundRect">
            <a:avLst/>
          </a:prstGeom>
          <a:solidFill>
            <a:srgbClr val="FFF0F0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109728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C62828"/>
                </a:solidFill>
                <a:latin typeface="Verdana"/>
              </a:defRPr>
            </a:pPr>
            <a:r>
              <a:t>NÍVEL DE AMEAÇA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463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1">
                <a:solidFill>
                  <a:srgbClr val="C62828"/>
                </a:solidFill>
                <a:latin typeface="Verdana"/>
              </a:defRPr>
            </a:pPr>
            <a:r>
              <a:t>[HIGH / MEDIUM / LOW]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2286000"/>
            <a:ext cx="3657600" cy="36576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2286000"/>
            <a:ext cx="3657600" cy="457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4231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C62828"/>
                </a:solidFill>
                <a:latin typeface="Verdana"/>
              </a:defRPr>
            </a:pPr>
            <a:r>
              <a:t>Oferta Exclusiva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834640"/>
            <a:ext cx="3383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[Detalhes da abordagem]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60520" y="2286000"/>
            <a:ext cx="3657600" cy="36576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60520" y="2286000"/>
            <a:ext cx="3657600" cy="457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24231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C62828"/>
                </a:solidFill>
                <a:latin typeface="Verdana"/>
              </a:defRPr>
            </a:pPr>
            <a:r>
              <a:t>Avaliação de Impacto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2834640"/>
            <a:ext cx="3383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[Perda potencial]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01000" y="2286000"/>
            <a:ext cx="3657600" cy="36576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01000" y="2286000"/>
            <a:ext cx="3657600" cy="457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0" y="24231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C62828"/>
                </a:solidFill>
                <a:latin typeface="Verdana"/>
              </a:defRPr>
            </a:pPr>
            <a:r>
              <a:t>Observações BD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2834640"/>
            <a:ext cx="3383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[Notas de campo]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1371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91919"/>
                </a:solidFill>
                <a:latin typeface="Verdana"/>
              </a:defRPr>
            </a:pPr>
            <a:r>
              <a:t>A Proposta da 99Food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50292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66666"/>
                </a:solidFill>
                <a:latin typeface="Verdana"/>
              </a:defRPr>
            </a:pPr>
            <a:r>
              <a:t>O que estão oferecendo — decodificado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731520"/>
            <a:ext cx="11750040" cy="36576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137160"/>
            <a:ext cx="1005840" cy="5394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5836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AAAAAA"/>
                </a:solidFill>
                <a:latin typeface="Verdana"/>
              </a:defRPr>
            </a:pPr>
            <a:r>
              <a:t>KEETA Confidential · Keeta SMB BD · SP Metropolitan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914400"/>
            <a:ext cx="2743200" cy="32004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914400"/>
            <a:ext cx="2743200" cy="457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0972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C62828"/>
                </a:solidFill>
                <a:latin typeface="Verdana"/>
              </a:defRPr>
            </a:pPr>
            <a:r>
              <a:t>💰 CASH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5544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1">
                <a:solidFill>
                  <a:srgbClr val="191919"/>
                </a:solidFill>
                <a:latin typeface="Verdana"/>
              </a:defRPr>
            </a:pPr>
            <a:r>
              <a:t>R$ [---]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1945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666666"/>
                </a:solidFill>
                <a:latin typeface="Verdana"/>
              </a:defRPr>
            </a:pPr>
            <a:r>
              <a:t>Pagamento único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6120" y="914400"/>
            <a:ext cx="2743200" cy="32004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46120" y="914400"/>
            <a:ext cx="2743200" cy="457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10972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C62828"/>
                </a:solidFill>
                <a:latin typeface="Verdana"/>
              </a:defRPr>
            </a:pPr>
            <a:r>
              <a:t>📈 GMV GUARANTEE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15544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1">
                <a:solidFill>
                  <a:srgbClr val="191919"/>
                </a:solidFill>
                <a:latin typeface="Verdana"/>
              </a:defRPr>
            </a:pPr>
            <a:r>
              <a:t>R$ [---]/mês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21945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666666"/>
                </a:solidFill>
                <a:latin typeface="Verdana"/>
              </a:defRPr>
            </a:pPr>
            <a:r>
              <a:t>Mínimo mensal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914400"/>
            <a:ext cx="2743200" cy="32004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914400"/>
            <a:ext cx="2743200" cy="457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10972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C62828"/>
                </a:solidFill>
                <a:latin typeface="Verdana"/>
              </a:defRPr>
            </a:pPr>
            <a:r>
              <a:t>📅 DURATION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15544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1">
                <a:solidFill>
                  <a:srgbClr val="191919"/>
                </a:solidFill>
                <a:latin typeface="Verdana"/>
              </a:defRPr>
            </a:pPr>
            <a:r>
              <a:t>[---] meses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1945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666666"/>
                </a:solidFill>
                <a:latin typeface="Verdana"/>
              </a:defRPr>
            </a:pPr>
            <a:r>
              <a:t>Duração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8280" y="914400"/>
            <a:ext cx="2743200" cy="32004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98280" y="914400"/>
            <a:ext cx="2743200" cy="457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5440" y="10972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C62828"/>
                </a:solidFill>
                <a:latin typeface="Verdana"/>
              </a:defRPr>
            </a:pPr>
            <a:r>
              <a:t>⚠️ PENALTY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15544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1">
                <a:solidFill>
                  <a:srgbClr val="191919"/>
                </a:solidFill>
                <a:latin typeface="Verdana"/>
              </a:defRPr>
            </a:pPr>
            <a:r>
              <a:t>R$ [---]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21945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666666"/>
                </a:solidFill>
                <a:latin typeface="Verdana"/>
              </a:defRPr>
            </a:pPr>
            <a:r>
              <a:t>Rescisão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" y="43891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C62828"/>
                </a:solidFill>
                <a:latin typeface="Verdana"/>
              </a:defRPr>
            </a:pPr>
            <a:r>
              <a:t>Custos Ocultos: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4754880"/>
            <a:ext cx="11430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[Liste o que NÃO está incluído: sem suporte de marketing, sem garantia de tráfego, riscos de multa, perda de poder de negociação]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1371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91919"/>
                </a:solidFill>
                <a:latin typeface="Verdana"/>
              </a:defRPr>
            </a:pPr>
            <a:r>
              <a:t>Impacto na Receita — A Conta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50292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66666"/>
                </a:solidFill>
                <a:latin typeface="Verdana"/>
              </a:defRPr>
            </a:pPr>
            <a:r>
              <a:t>Aceitar exclusividade vs. multi-plataforma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731520"/>
            <a:ext cx="11750040" cy="36576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137160"/>
            <a:ext cx="1005840" cy="5394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5836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AAAAAA"/>
                </a:solidFill>
                <a:latin typeface="Verdana"/>
              </a:defRPr>
            </a:pPr>
            <a:r>
              <a:t>KEETA Confidential · Keeta SMB BD · SP Metropolitan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914400"/>
            <a:ext cx="5029200" cy="4114800"/>
          </a:xfrm>
          <a:prstGeom prst="roundRect">
            <a:avLst/>
          </a:prstGeom>
          <a:solidFill>
            <a:srgbClr val="FFF5F5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914400"/>
            <a:ext cx="5029200" cy="54864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0972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C62828"/>
                </a:solidFill>
                <a:latin typeface="Verdana"/>
              </a:defRPr>
            </a:pPr>
            <a:r>
              <a:t>❌ ACEITAR EXCLUSIVIDADE 99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5544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66666"/>
                </a:solidFill>
                <a:latin typeface="Verdana"/>
              </a:defRPr>
            </a:pPr>
            <a:r>
              <a:t>Receita Total 2 Anos: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9202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1">
                <a:solidFill>
                  <a:srgbClr val="C62828"/>
                </a:solidFill>
                <a:latin typeface="Verdana"/>
              </a:defRPr>
            </a:pPr>
            <a:r>
              <a:t>R$ [---]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5603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Média Mensal: R$ [---]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914400"/>
            <a:ext cx="5029200" cy="4114800"/>
          </a:xfrm>
          <a:prstGeom prst="roundRect">
            <a:avLst/>
          </a:prstGeom>
          <a:solidFill>
            <a:srgbClr val="F0FAF7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914400"/>
            <a:ext cx="5029200" cy="54864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0972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1CC9A"/>
                </a:solidFill>
                <a:latin typeface="Verdana"/>
              </a:defRPr>
            </a:pPr>
            <a:r>
              <a:t>✅ MANTER MULTI-PLATAFORMA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15544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66666"/>
                </a:solidFill>
                <a:latin typeface="Verdana"/>
              </a:defRPr>
            </a:pPr>
            <a:r>
              <a:t>Receita Total 2 Anos: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19202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1">
                <a:solidFill>
                  <a:srgbClr val="11CC9A"/>
                </a:solidFill>
                <a:latin typeface="Verdana"/>
              </a:defRPr>
            </a:pPr>
            <a:r>
              <a:t>R$ [---]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5603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Média Mensal: R$ [---]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0" y="5303520"/>
            <a:ext cx="5760720" cy="914400"/>
          </a:xfrm>
          <a:prstGeom prst="roundRect">
            <a:avLst/>
          </a:prstGeom>
          <a:solidFill>
            <a:srgbClr val="FFF0E0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83280" y="53949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C62828"/>
                </a:solidFill>
                <a:latin typeface="Verdana"/>
              </a:defRPr>
            </a:pPr>
            <a:r>
              <a:t>DIFERENÇA — VOCÊ PERDE: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57607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1">
                <a:solidFill>
                  <a:srgbClr val="C62828"/>
                </a:solidFill>
                <a:latin typeface="Verdana"/>
              </a:defRPr>
            </a:pPr>
            <a:r>
              <a:t>R$ [---]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1371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91919"/>
                </a:solidFill>
                <a:latin typeface="Verdana"/>
              </a:defRPr>
            </a:pPr>
            <a:r>
              <a:t>Projeção Multi-Plataforma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50292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66666"/>
                </a:solidFill>
                <a:latin typeface="Verdana"/>
              </a:defRPr>
            </a:pPr>
            <a:r>
              <a:t>Comparação cumulativa 2-3 anos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731520"/>
            <a:ext cx="11750040" cy="36576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137160"/>
            <a:ext cx="1005840" cy="5394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5836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AAAAAA"/>
                </a:solidFill>
                <a:latin typeface="Verdana"/>
              </a:defRPr>
            </a:pPr>
            <a:r>
              <a:t>KEETA Confidential · Keeta SMB BD · SP Metropolitan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868680"/>
            <a:ext cx="11521440" cy="3657600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23774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1">
                <a:solidFill>
                  <a:srgbClr val="BDBDBD"/>
                </a:solidFill>
                <a:latin typeface="Verdana"/>
              </a:defRPr>
            </a:pPr>
            <a:r>
              <a:t>[Inserir Gráfico de Projeção]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54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1CC9A"/>
                </a:solidFill>
                <a:latin typeface="Verdana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3291840" y="4754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1CC9A"/>
                </a:solidFill>
                <a:latin typeface="Verdana"/>
              </a:defRPr>
            </a:pPr>
            <a:r>
              <a:t>Ano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4754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1CC9A"/>
                </a:solidFill>
                <a:latin typeface="Verdana"/>
              </a:defRPr>
            </a:pPr>
            <a:r>
              <a:t>Ano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0" y="4754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1CC9A"/>
                </a:solidFill>
                <a:latin typeface="Verdana"/>
              </a:defRPr>
            </a:pPr>
            <a:r>
              <a:t>Ano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074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91919"/>
                </a:solidFill>
                <a:latin typeface="Verdana"/>
              </a:defRPr>
            </a:pPr>
            <a:r>
              <a:t>Multi-Plataforma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5074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R$ [---]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5074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R$ [---]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5074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R$ [---]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486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91919"/>
                </a:solidFill>
                <a:latin typeface="Verdana"/>
              </a:defRPr>
            </a:pPr>
            <a:r>
              <a:t>99 Exclusivo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5486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R$ [---]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5486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R$ [---]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5486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R$ [---]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897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91919"/>
                </a:solidFill>
                <a:latin typeface="Verdana"/>
              </a:defRPr>
            </a:pPr>
            <a:r>
              <a:t>Diferença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5897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C62828"/>
                </a:solidFill>
                <a:latin typeface="Verdana"/>
              </a:defRPr>
            </a:pPr>
            <a:r>
              <a:t>R$ [---]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5897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C62828"/>
                </a:solidFill>
                <a:latin typeface="Verdana"/>
              </a:defRPr>
            </a:pPr>
            <a:r>
              <a:t>R$ [---]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5897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C62828"/>
                </a:solidFill>
                <a:latin typeface="Verdana"/>
              </a:defRPr>
            </a:pPr>
            <a:r>
              <a:t>R$ [---]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1371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91919"/>
                </a:solidFill>
                <a:latin typeface="Verdana"/>
              </a:defRPr>
            </a:pPr>
            <a:r>
              <a:t>Riscos do Contrato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50292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66666"/>
                </a:solidFill>
                <a:latin typeface="Verdana"/>
              </a:defRPr>
            </a:pPr>
            <a:r>
              <a:t>5 riscos estruturais da exclusividade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731520"/>
            <a:ext cx="11750040" cy="36576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137160"/>
            <a:ext cx="1005840" cy="5394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5836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AAAAAA"/>
                </a:solidFill>
                <a:latin typeface="Verdana"/>
              </a:defRPr>
            </a:pPr>
            <a:r>
              <a:t>KEETA Confidential · Keeta SMB BD · SP Metropolitan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914400"/>
            <a:ext cx="11521440" cy="96012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914400"/>
            <a:ext cx="54864" cy="9601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0058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191919"/>
                </a:solidFill>
                <a:latin typeface="Verdana"/>
              </a:defRPr>
            </a:pPr>
            <a:r>
              <a:t>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0515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91919"/>
                </a:solidFill>
                <a:latin typeface="Verdana"/>
              </a:defRPr>
            </a:pPr>
            <a:r>
              <a:t>Bloqueio: Sem saída sem multa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4173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[Detalhes específicos]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" y="2011680"/>
            <a:ext cx="11521440" cy="96012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011680"/>
            <a:ext cx="54864" cy="9601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1031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191919"/>
                </a:solidFill>
                <a:latin typeface="Verdana"/>
              </a:defRPr>
            </a:pPr>
            <a:r>
              <a:t>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1488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91919"/>
                </a:solidFill>
                <a:latin typeface="Verdana"/>
              </a:defRPr>
            </a:pPr>
            <a:r>
              <a:t>Sem Poder de Negociação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25146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[Detalhes específicos]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3108960"/>
            <a:ext cx="11521440" cy="96012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3108960"/>
            <a:ext cx="54864" cy="9601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2004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191919"/>
                </a:solidFill>
                <a:latin typeface="Verdana"/>
              </a:defRPr>
            </a:pPr>
            <a:r>
              <a:t>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32461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91919"/>
                </a:solidFill>
                <a:latin typeface="Verdana"/>
              </a:defRPr>
            </a:pPr>
            <a:r>
              <a:t>Garantia GMV: Raramente cumprida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36118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[Detalhes específicos]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0040" y="4206240"/>
            <a:ext cx="11521440" cy="96012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4206240"/>
            <a:ext cx="54864" cy="9601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29767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191919"/>
                </a:solidFill>
                <a:latin typeface="Verdana"/>
              </a:defRPr>
            </a:pPr>
            <a:r>
              <a:t>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4343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91919"/>
                </a:solidFill>
                <a:latin typeface="Verdana"/>
              </a:defRPr>
            </a:pPr>
            <a:r>
              <a:t>Multa: Alto custo para rescindir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470915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[Detalhes específicos]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0040" y="5303520"/>
            <a:ext cx="11521440" cy="96012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5303520"/>
            <a:ext cx="54864" cy="9601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539495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191919"/>
                </a:solidFill>
                <a:latin typeface="Verdana"/>
              </a:defRPr>
            </a:pPr>
            <a:r>
              <a:t>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54406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91919"/>
                </a:solidFill>
                <a:latin typeface="Verdana"/>
              </a:defRPr>
            </a:pPr>
            <a:r>
              <a:t>Mudanças: Preso em termos ruins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58064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BDBDBD"/>
                </a:solidFill>
                <a:latin typeface="Verdana"/>
              </a:defRPr>
            </a:pPr>
            <a:r>
              <a:t>[Detalhes específicos]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1371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91919"/>
                </a:solidFill>
                <a:latin typeface="Verdana"/>
              </a:defRPr>
            </a:pPr>
            <a:r>
              <a:t>Comparação Competitiva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50292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66666"/>
                </a:solidFill>
                <a:latin typeface="Verdana"/>
              </a:defRPr>
            </a:pPr>
            <a:r>
              <a:t>Keeta vs 99Food — lado a lado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731520"/>
            <a:ext cx="11750040" cy="36576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137160"/>
            <a:ext cx="1005840" cy="5394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5836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AAAAAA"/>
                </a:solidFill>
                <a:latin typeface="Verdana"/>
              </a:defRPr>
            </a:pPr>
            <a:r>
              <a:t>KEETA Confidential · Keeta SMB BD · SP Metropolitan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14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91919"/>
                </a:solidFill>
                <a:latin typeface="Verdana"/>
              </a:defRPr>
            </a:pPr>
            <a:r>
              <a:t>MÉTRICA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9144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1CC9A"/>
                </a:solidFill>
                <a:latin typeface="Verdana"/>
              </a:defRPr>
            </a:pPr>
            <a:r>
              <a:t>🟢 KEETA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914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666666"/>
                </a:solidFill>
                <a:latin typeface="Verdana"/>
              </a:defRPr>
            </a:pPr>
            <a:r>
              <a:t>⚫ 99FOOD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234440"/>
            <a:ext cx="11521440" cy="27432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20040" y="1417320"/>
            <a:ext cx="11521440" cy="777240"/>
          </a:xfrm>
          <a:prstGeom prst="roundRect">
            <a:avLst/>
          </a:prstGeom>
          <a:solidFill>
            <a:srgbClr val="FAFCFB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5544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91919"/>
                </a:solidFill>
                <a:latin typeface="Verdana"/>
              </a:defRPr>
            </a:pPr>
            <a:r>
              <a:t>Comissão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15544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11CC9A"/>
                </a:solidFill>
                <a:latin typeface="Verdana"/>
              </a:defRPr>
            </a:pPr>
            <a:r>
              <a:t>[Vantagem Keeta]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15544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[Comparação 99]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468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91919"/>
                </a:solidFill>
                <a:latin typeface="Verdana"/>
              </a:defRPr>
            </a:pPr>
            <a:r>
              <a:t>Tráfego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24688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11CC9A"/>
                </a:solidFill>
                <a:latin typeface="Verdana"/>
              </a:defRPr>
            </a:pPr>
            <a:r>
              <a:t>[Vantagem Keeta]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4688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[Comparação 99]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" y="3063240"/>
            <a:ext cx="11521440" cy="777240"/>
          </a:xfrm>
          <a:prstGeom prst="roundRect">
            <a:avLst/>
          </a:prstGeom>
          <a:solidFill>
            <a:srgbClr val="FAFCFB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200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91919"/>
                </a:solidFill>
                <a:latin typeface="Verdana"/>
              </a:defRPr>
            </a:pPr>
            <a:r>
              <a:t>Suporte BD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32004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11CC9A"/>
                </a:solidFill>
                <a:latin typeface="Verdana"/>
              </a:defRPr>
            </a:pPr>
            <a:r>
              <a:t>[Vantagem Keeta]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3200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[Comparação 99]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114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91919"/>
                </a:solidFill>
                <a:latin typeface="Verdana"/>
              </a:defRPr>
            </a:pPr>
            <a:r>
              <a:t>Velocidade Pagamento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41148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11CC9A"/>
                </a:solidFill>
                <a:latin typeface="Verdana"/>
              </a:defRPr>
            </a:pPr>
            <a:r>
              <a:t>[Vantagem Keeta]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4114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[Comparação 99]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" y="4709160"/>
            <a:ext cx="11521440" cy="777240"/>
          </a:xfrm>
          <a:prstGeom prst="roundRect">
            <a:avLst/>
          </a:prstGeom>
          <a:solidFill>
            <a:srgbClr val="FAFCFB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846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91919"/>
                </a:solidFill>
                <a:latin typeface="Verdana"/>
              </a:defRPr>
            </a:pPr>
            <a:r>
              <a:t>Marketing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0" y="48463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11CC9A"/>
                </a:solidFill>
                <a:latin typeface="Verdana"/>
              </a:defRPr>
            </a:pPr>
            <a:r>
              <a:t>[Vantagem Keeta]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8463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[Comparação 99]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7607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91919"/>
                </a:solidFill>
                <a:latin typeface="Verdana"/>
              </a:defRPr>
            </a:pPr>
            <a:r>
              <a:t>Ferramentas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0" y="57607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11CC9A"/>
                </a:solidFill>
                <a:latin typeface="Verdana"/>
              </a:defRPr>
            </a:pPr>
            <a:r>
              <a:t>[Vantagem Keeta]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57607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[Comparação 99]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1371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91919"/>
                </a:solidFill>
                <a:latin typeface="Verdana"/>
              </a:defRPr>
            </a:pPr>
            <a:r>
              <a:t>Nossa Proposta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50292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66666"/>
                </a:solidFill>
                <a:latin typeface="Verdana"/>
              </a:defRPr>
            </a:pPr>
            <a:r>
              <a:t>Estratégia de defesa — o que Keeta oferece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731520"/>
            <a:ext cx="11750040" cy="36576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137160"/>
            <a:ext cx="1005840" cy="5394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5836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AAAAAA"/>
                </a:solidFill>
                <a:latin typeface="Verdana"/>
              </a:defRPr>
            </a:pPr>
            <a:r>
              <a:t>KEETA Confidential · Keeta SMB BD · SP Metropolitan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914400"/>
            <a:ext cx="3657600" cy="4389120"/>
          </a:xfrm>
          <a:prstGeom prst="roundRect">
            <a:avLst/>
          </a:prstGeom>
          <a:solidFill>
            <a:srgbClr val="F0FAF7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914400"/>
            <a:ext cx="3657600" cy="54864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0972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191919"/>
                </a:solidFill>
                <a:latin typeface="Verdana"/>
              </a:defRPr>
            </a:pPr>
            <a:r>
              <a:t>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6459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91919"/>
                </a:solidFill>
                <a:latin typeface="Verdana"/>
              </a:defRPr>
            </a:pPr>
            <a:r>
              <a:t>Pacote Promocional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103120"/>
            <a:ext cx="3383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[Plano promocional específico]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914400"/>
            <a:ext cx="3657600" cy="4389120"/>
          </a:xfrm>
          <a:prstGeom prst="roundRect">
            <a:avLst/>
          </a:prstGeom>
          <a:solidFill>
            <a:srgbClr val="F0FAF7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60520" y="914400"/>
            <a:ext cx="3657600" cy="54864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10972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191919"/>
                </a:solidFill>
                <a:latin typeface="Verdana"/>
              </a:defRPr>
            </a:pPr>
            <a:r>
              <a:t>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16459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91919"/>
                </a:solidFill>
                <a:latin typeface="Verdana"/>
              </a:defRPr>
            </a:pPr>
            <a:r>
              <a:t>Incentivo Exclusivo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2103120"/>
            <a:ext cx="3383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[Termos especiais: bônus, cashback]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914400"/>
            <a:ext cx="3657600" cy="4389120"/>
          </a:xfrm>
          <a:prstGeom prst="roundRect">
            <a:avLst/>
          </a:prstGeom>
          <a:solidFill>
            <a:srgbClr val="F0FAF7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914400"/>
            <a:ext cx="3657600" cy="54864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0" y="10972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191919"/>
                </a:solidFill>
                <a:latin typeface="Verdana"/>
              </a:defRPr>
            </a:pPr>
            <a:r>
              <a:t>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16459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91919"/>
                </a:solidFill>
                <a:latin typeface="Verdana"/>
              </a:defRPr>
            </a:pPr>
            <a:r>
              <a:t>Plano de Crescimento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2103120"/>
            <a:ext cx="3383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[Boost de tráfego, prioridade, marketing]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" y="55778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1">
                <a:solidFill>
                  <a:srgbClr val="191919"/>
                </a:solidFill>
                <a:latin typeface="Verdana"/>
              </a:defRPr>
            </a:pPr>
            <a:r>
              <a:t>Investimento Total: R$ [---]  →  Retorno Esperado: R$ [---]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1371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91919"/>
                </a:solidFill>
                <a:latin typeface="Verdana"/>
              </a:defRPr>
            </a:pPr>
            <a:r>
              <a:t>Ações Recomendadas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50292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66666"/>
                </a:solidFill>
                <a:latin typeface="Verdana"/>
              </a:defRPr>
            </a:pPr>
            <a:r>
              <a:t>Ações prioritárias com responsáveis e prazos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731520"/>
            <a:ext cx="11750040" cy="36576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137160"/>
            <a:ext cx="1005840" cy="5394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5836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AAAAAA"/>
                </a:solidFill>
                <a:latin typeface="Verdana"/>
              </a:defRPr>
            </a:pPr>
            <a:r>
              <a:t>KEETA Confidential · Keeta SMB BD · SP Metropolitan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601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1CC9A"/>
                </a:solidFill>
                <a:latin typeface="Verdana"/>
              </a:defRPr>
            </a:pPr>
            <a:r>
              <a:t>#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" y="960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1CC9A"/>
                </a:solidFill>
                <a:latin typeface="Verdana"/>
              </a:defRPr>
            </a:pPr>
            <a:r>
              <a:t>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09844" y="960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1CC9A"/>
                </a:solidFill>
                <a:latin typeface="Verdana"/>
              </a:defRPr>
            </a:pPr>
            <a:r>
              <a:t>Responsável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78724" y="960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1CC9A"/>
                </a:solidFill>
                <a:latin typeface="Verdana"/>
              </a:defRPr>
            </a:pPr>
            <a:r>
              <a:t>Prazo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3828" y="960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1CC9A"/>
                </a:solidFill>
                <a:latin typeface="Verdana"/>
              </a:defRPr>
            </a:pPr>
            <a:r>
              <a:t>Status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234440"/>
            <a:ext cx="11521440" cy="27432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20040" y="1417320"/>
            <a:ext cx="11521440" cy="822960"/>
          </a:xfrm>
          <a:prstGeom prst="roundRect">
            <a:avLst/>
          </a:prstGeom>
          <a:solidFill>
            <a:srgbClr val="FAFCFB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6002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91919"/>
                </a:solidFill>
                <a:latin typeface="Verdana"/>
              </a:defRPr>
            </a:pPr>
            <a:r>
              <a:t>🕐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16002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[Action 1]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1600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[Owner]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1600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[Date]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16002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6060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91919"/>
                </a:solidFill>
                <a:latin typeface="Verdana"/>
              </a:defRPr>
            </a:pPr>
            <a:r>
              <a:t>🕐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26060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[Action 2]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606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[Owner]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606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[Date]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20" y="26060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0040" y="3246120"/>
            <a:ext cx="11521440" cy="822960"/>
          </a:xfrm>
          <a:prstGeom prst="roundRect">
            <a:avLst/>
          </a:prstGeom>
          <a:solidFill>
            <a:srgbClr val="FAFCFB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4290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91919"/>
                </a:solidFill>
                <a:latin typeface="Verdana"/>
              </a:defRPr>
            </a:pPr>
            <a:r>
              <a:t>🕐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34290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[Action 3]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3429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[Owner]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3429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[Date]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2720" y="34290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4348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91919"/>
                </a:solidFill>
                <a:latin typeface="Verdana"/>
              </a:defRPr>
            </a:pPr>
            <a:r>
              <a:t>🕐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44348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[Action 4]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44348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[Owner]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44348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[Date]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32720" y="44348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0040" y="5074920"/>
            <a:ext cx="11521440" cy="822960"/>
          </a:xfrm>
          <a:prstGeom prst="roundRect">
            <a:avLst/>
          </a:prstGeom>
          <a:solidFill>
            <a:srgbClr val="FAFCFB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52578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91919"/>
                </a:solidFill>
                <a:latin typeface="Verdana"/>
              </a:defRPr>
            </a:pPr>
            <a:r>
              <a:t>🕐 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52578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[Action 5]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0" y="5257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[Owner]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5257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[Date]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32720" y="52578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[---]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0040" y="6217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1">
                <a:solidFill>
                  <a:srgbClr val="191919"/>
                </a:solidFill>
                <a:latin typeface="Verdana"/>
              </a:defRPr>
            </a:pPr>
            <a:r>
              <a:t>Próxima Revisão: [---]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1371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91919"/>
                </a:solidFill>
                <a:latin typeface="Verdana"/>
              </a:defRPr>
            </a:pPr>
            <a:r>
              <a:t>Conclusão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8" y="731520"/>
            <a:ext cx="11750040" cy="36576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137160"/>
            <a:ext cx="1005840" cy="5394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65836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AAAAAA"/>
                </a:solidFill>
                <a:latin typeface="Verdana"/>
              </a:defRPr>
            </a:pPr>
            <a:r>
              <a:t>KEETA Confidential · Keeta SMB BD · SP Metropolitan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371600"/>
            <a:ext cx="11521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11CC9A"/>
                </a:solidFill>
                <a:latin typeface="Verdana"/>
              </a:defRPr>
            </a:pPr>
            <a:r>
              <a:t>Mantenha Multi-Plataforma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28600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666666"/>
                </a:solidFill>
                <a:latin typeface="Verdana"/>
              </a:defRPr>
            </a:pPr>
            <a:r>
              <a:t>Os números falam claramente: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2926080"/>
            <a:ext cx="3200400" cy="2011680"/>
          </a:xfrm>
          <a:prstGeom prst="roundRect">
            <a:avLst/>
          </a:prstGeom>
          <a:solidFill>
            <a:srgbClr val="F0FAF7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31089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1CC9A"/>
                </a:solidFill>
                <a:latin typeface="Verdana"/>
              </a:defRPr>
            </a:pPr>
            <a:r>
              <a:t>Receita/mês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5661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1">
                <a:solidFill>
                  <a:srgbClr val="11CC9A"/>
                </a:solidFill>
                <a:latin typeface="Verdana"/>
              </a:defRPr>
            </a:pPr>
            <a:r>
              <a:t>R$ [---]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46320" y="2926080"/>
            <a:ext cx="3200400" cy="2011680"/>
          </a:xfrm>
          <a:prstGeom prst="roundRect">
            <a:avLst/>
          </a:prstGeom>
          <a:solidFill>
            <a:srgbClr val="F0FAF7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83480" y="31089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1CC9A"/>
                </a:solidFill>
                <a:latin typeface="Verdana"/>
              </a:defRPr>
            </a:pPr>
            <a:r>
              <a:t>Total 2 Anos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35661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1">
                <a:solidFill>
                  <a:srgbClr val="11CC9A"/>
                </a:solidFill>
                <a:latin typeface="Verdana"/>
              </a:defRPr>
            </a:pPr>
            <a:r>
              <a:t>R$ [---]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2926080"/>
            <a:ext cx="3200400" cy="2011680"/>
          </a:xfrm>
          <a:prstGeom prst="roundRect">
            <a:avLst/>
          </a:prstGeom>
          <a:solidFill>
            <a:srgbClr val="FFF5F5"/>
          </a:solidFill>
          <a:ln w="6350">
            <a:solidFill>
              <a:srgbClr val="E0E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31089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C62828"/>
                </a:solidFill>
                <a:latin typeface="Verdana"/>
              </a:defRPr>
            </a:pPr>
            <a:r>
              <a:t>Perda se Exclusivo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35661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1">
                <a:solidFill>
                  <a:srgbClr val="C62828"/>
                </a:solidFill>
                <a:latin typeface="Verdana"/>
              </a:defRPr>
            </a:pPr>
            <a:r>
              <a:t>R$ [---]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5303520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191919"/>
                </a:solidFill>
                <a:latin typeface="Verdana"/>
              </a:defRPr>
            </a:pPr>
            <a:r>
              <a:t>Sua trajetória de crescimento + suporte Keeta = mais fortes juntos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457200"/>
            <a:ext cx="1554480" cy="8412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20040" y="1828800"/>
            <a:ext cx="11521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 i="0">
                <a:solidFill>
                  <a:srgbClr val="191919"/>
                </a:solidFill>
                <a:latin typeface="Verdana"/>
              </a:defRPr>
            </a:pPr>
            <a:r>
              <a:t>OBRIGADO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743200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666666"/>
                </a:solidFill>
                <a:latin typeface="Verdana"/>
              </a:defRPr>
            </a:pPr>
            <a:r>
              <a:t>Keeta Operações de Comerciantes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347472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666666"/>
                </a:solidFill>
                <a:latin typeface="Verdana"/>
              </a:defRPr>
            </a:pPr>
            <a:r>
              <a:t>Dúvidas? Contate seu BD: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4023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66666"/>
                </a:solidFill>
                <a:latin typeface="Verdana"/>
              </a:defRPr>
            </a:pPr>
            <a:r>
              <a:t>Name / Nome: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4023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[BD Name]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44348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66666"/>
                </a:solidFill>
                <a:latin typeface="Verdana"/>
              </a:defRPr>
            </a:pPr>
            <a:r>
              <a:t>Phone / Tel: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434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[+55 XX XXXXX-XXXX]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4846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66666"/>
                </a:solidFill>
                <a:latin typeface="Verdana"/>
              </a:defRPr>
            </a:pPr>
            <a:r>
              <a:t>Email: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846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[name@keeta.com]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5257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66666"/>
                </a:solidFill>
                <a:latin typeface="Verdana"/>
              </a:defRPr>
            </a:pPr>
            <a:r>
              <a:t>Next Visit / Próxima Visita: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5257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BDBDBD"/>
                </a:solidFill>
                <a:latin typeface="Verdana"/>
              </a:defRPr>
            </a:pPr>
            <a:r>
              <a:t>[Date]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65836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AAAAAA"/>
                </a:solidFill>
                <a:latin typeface="Verdana"/>
              </a:defRPr>
            </a:pPr>
            <a:r>
              <a:t>KEETA Confidential · Keeta SMB BD · SP Metropolitan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